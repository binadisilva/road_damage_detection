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A4F6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A4F6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A4F6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A4F6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A4F6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4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31622" y="539813"/>
            <a:ext cx="8017509" cy="4128135"/>
          </a:xfrm>
          <a:custGeom>
            <a:avLst/>
            <a:gdLst/>
            <a:ahLst/>
            <a:cxnLst/>
            <a:rect l="l" t="t" r="r" b="b"/>
            <a:pathLst>
              <a:path w="8017509" h="4128135">
                <a:moveTo>
                  <a:pt x="8017002" y="0"/>
                </a:moveTo>
                <a:lnTo>
                  <a:pt x="0" y="0"/>
                </a:lnTo>
                <a:lnTo>
                  <a:pt x="0" y="4127880"/>
                </a:lnTo>
                <a:lnTo>
                  <a:pt x="8017002" y="4127880"/>
                </a:lnTo>
                <a:lnTo>
                  <a:pt x="8017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25272" y="533400"/>
            <a:ext cx="8030209" cy="4153535"/>
          </a:xfrm>
          <a:custGeom>
            <a:avLst/>
            <a:gdLst/>
            <a:ahLst/>
            <a:cxnLst/>
            <a:rect l="l" t="t" r="r" b="b"/>
            <a:pathLst>
              <a:path w="8030209" h="4153535">
                <a:moveTo>
                  <a:pt x="6350" y="0"/>
                </a:moveTo>
                <a:lnTo>
                  <a:pt x="6350" y="4153344"/>
                </a:lnTo>
              </a:path>
              <a:path w="8030209" h="4153535">
                <a:moveTo>
                  <a:pt x="8023352" y="0"/>
                </a:moveTo>
                <a:lnTo>
                  <a:pt x="8023352" y="4153344"/>
                </a:lnTo>
              </a:path>
              <a:path w="8030209" h="4153535">
                <a:moveTo>
                  <a:pt x="0" y="6350"/>
                </a:moveTo>
                <a:lnTo>
                  <a:pt x="8029702" y="635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25272" y="4667694"/>
            <a:ext cx="8030209" cy="0"/>
          </a:xfrm>
          <a:custGeom>
            <a:avLst/>
            <a:gdLst/>
            <a:ahLst/>
            <a:cxnLst/>
            <a:rect l="l" t="t" r="r" b="b"/>
            <a:pathLst>
              <a:path w="8030209" h="0">
                <a:moveTo>
                  <a:pt x="0" y="0"/>
                </a:moveTo>
                <a:lnTo>
                  <a:pt x="802970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A4F6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4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16535"/>
            <a:ext cx="4511039" cy="57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A4F6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5759" y="896111"/>
            <a:ext cx="4480560" cy="3365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A4F6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0.jpg"/><Relationship Id="rId9" Type="http://schemas.openxmlformats.org/officeDocument/2006/relationships/image" Target="../media/image2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6350" y="-6350"/>
            <a:ext cx="9150350" cy="5156200"/>
            <a:chOff x="-6350" y="-6350"/>
            <a:chExt cx="9150350" cy="5156200"/>
          </a:xfrm>
        </p:grpSpPr>
        <p:sp>
          <p:nvSpPr>
            <p:cNvPr id="3" name="object 3" descr=""/>
            <p:cNvSpPr/>
            <p:nvPr/>
          </p:nvSpPr>
          <p:spPr>
            <a:xfrm>
              <a:off x="164592" y="0"/>
              <a:ext cx="8979535" cy="5143500"/>
            </a:xfrm>
            <a:custGeom>
              <a:avLst/>
              <a:gdLst/>
              <a:ahLst/>
              <a:cxnLst/>
              <a:rect l="l" t="t" r="r" b="b"/>
              <a:pathLst>
                <a:path w="8979535" h="5143500">
                  <a:moveTo>
                    <a:pt x="0" y="5143500"/>
                  </a:moveTo>
                  <a:lnTo>
                    <a:pt x="8979408" y="5143500"/>
                  </a:lnTo>
                  <a:lnTo>
                    <a:pt x="8979408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0A3B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165100" cy="5143500"/>
            </a:xfrm>
            <a:custGeom>
              <a:avLst/>
              <a:gdLst/>
              <a:ahLst/>
              <a:cxnLst/>
              <a:rect l="l" t="t" r="r" b="b"/>
              <a:pathLst>
                <a:path w="165100" h="5143500">
                  <a:moveTo>
                    <a:pt x="16459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64592" y="5143500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165100" cy="5143500"/>
            </a:xfrm>
            <a:custGeom>
              <a:avLst/>
              <a:gdLst/>
              <a:ahLst/>
              <a:cxnLst/>
              <a:rect l="l" t="t" r="r" b="b"/>
              <a:pathLst>
                <a:path w="165100" h="5143500">
                  <a:moveTo>
                    <a:pt x="0" y="5143500"/>
                  </a:moveTo>
                  <a:lnTo>
                    <a:pt x="164592" y="5143500"/>
                  </a:lnTo>
                  <a:lnTo>
                    <a:pt x="164592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699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3059" y="1167511"/>
            <a:ext cx="7604125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solidFill>
                  <a:srgbClr val="FFFFFF"/>
                </a:solidFill>
              </a:rPr>
              <a:t>Video-Based</a:t>
            </a:r>
            <a:r>
              <a:rPr dirty="0" sz="3400" spc="285">
                <a:solidFill>
                  <a:srgbClr val="FFFFFF"/>
                </a:solidFill>
              </a:rPr>
              <a:t> </a:t>
            </a:r>
            <a:r>
              <a:rPr dirty="0" sz="3400">
                <a:solidFill>
                  <a:srgbClr val="FFFFFF"/>
                </a:solidFill>
              </a:rPr>
              <a:t>Road</a:t>
            </a:r>
            <a:r>
              <a:rPr dirty="0" sz="3400" spc="260">
                <a:solidFill>
                  <a:srgbClr val="FFFFFF"/>
                </a:solidFill>
              </a:rPr>
              <a:t> </a:t>
            </a:r>
            <a:r>
              <a:rPr dirty="0" sz="3400">
                <a:solidFill>
                  <a:srgbClr val="FFFFFF"/>
                </a:solidFill>
              </a:rPr>
              <a:t>Damage</a:t>
            </a:r>
            <a:r>
              <a:rPr dirty="0" sz="3400" spc="280">
                <a:solidFill>
                  <a:srgbClr val="FFFFFF"/>
                </a:solidFill>
              </a:rPr>
              <a:t> </a:t>
            </a:r>
            <a:r>
              <a:rPr dirty="0" sz="3400" spc="-10">
                <a:solidFill>
                  <a:srgbClr val="FFFFFF"/>
                </a:solidFill>
              </a:rPr>
              <a:t>Detection</a:t>
            </a:r>
            <a:endParaRPr sz="3400"/>
          </a:p>
        </p:txBody>
      </p:sp>
      <p:sp>
        <p:nvSpPr>
          <p:cNvPr id="7" name="object 7" descr=""/>
          <p:cNvSpPr txBox="1"/>
          <p:nvPr/>
        </p:nvSpPr>
        <p:spPr>
          <a:xfrm>
            <a:off x="353059" y="1953894"/>
            <a:ext cx="56305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BADDE8"/>
                </a:solidFill>
                <a:latin typeface="Trebuchet MS"/>
                <a:cs typeface="Trebuchet MS"/>
              </a:rPr>
              <a:t>Using</a:t>
            </a:r>
            <a:r>
              <a:rPr dirty="0" sz="2200" spc="-50">
                <a:solidFill>
                  <a:srgbClr val="BADDE8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BADDE8"/>
                </a:solidFill>
                <a:latin typeface="Trebuchet MS"/>
                <a:cs typeface="Trebuchet MS"/>
              </a:rPr>
              <a:t>Image</a:t>
            </a:r>
            <a:r>
              <a:rPr dirty="0" sz="2200" spc="-35">
                <a:solidFill>
                  <a:srgbClr val="BADDE8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BADDE8"/>
                </a:solidFill>
                <a:latin typeface="Trebuchet MS"/>
                <a:cs typeface="Trebuchet MS"/>
              </a:rPr>
              <a:t>Enhancement</a:t>
            </a:r>
            <a:r>
              <a:rPr dirty="0" sz="2200" spc="-40">
                <a:solidFill>
                  <a:srgbClr val="BADDE8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BADDE8"/>
                </a:solidFill>
                <a:latin typeface="Trebuchet MS"/>
                <a:cs typeface="Trebuchet MS"/>
              </a:rPr>
              <a:t>and</a:t>
            </a:r>
            <a:r>
              <a:rPr dirty="0" sz="2200" spc="-35">
                <a:solidFill>
                  <a:srgbClr val="BADDE8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BADDE8"/>
                </a:solidFill>
                <a:latin typeface="Trebuchet MS"/>
                <a:cs typeface="Trebuchet MS"/>
              </a:rPr>
              <a:t>Segmentation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76529" y="2553970"/>
            <a:ext cx="8973820" cy="2595880"/>
            <a:chOff x="176529" y="2553970"/>
            <a:chExt cx="8973820" cy="2595880"/>
          </a:xfrm>
        </p:grpSpPr>
        <p:sp>
          <p:nvSpPr>
            <p:cNvPr id="9" name="object 9" descr=""/>
            <p:cNvSpPr/>
            <p:nvPr/>
          </p:nvSpPr>
          <p:spPr>
            <a:xfrm>
              <a:off x="365759" y="2560320"/>
              <a:ext cx="4114800" cy="41275"/>
            </a:xfrm>
            <a:custGeom>
              <a:avLst/>
              <a:gdLst/>
              <a:ahLst/>
              <a:cxnLst/>
              <a:rect l="l" t="t" r="r" b="b"/>
              <a:pathLst>
                <a:path w="4114800" h="41275">
                  <a:moveTo>
                    <a:pt x="4114800" y="0"/>
                  </a:moveTo>
                  <a:lnTo>
                    <a:pt x="0" y="0"/>
                  </a:lnTo>
                  <a:lnTo>
                    <a:pt x="0" y="41148"/>
                  </a:lnTo>
                  <a:lnTo>
                    <a:pt x="4114800" y="41148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5759" y="2560320"/>
              <a:ext cx="4114800" cy="41275"/>
            </a:xfrm>
            <a:custGeom>
              <a:avLst/>
              <a:gdLst/>
              <a:ahLst/>
              <a:cxnLst/>
              <a:rect l="l" t="t" r="r" b="b"/>
              <a:pathLst>
                <a:path w="4114800" h="41275">
                  <a:moveTo>
                    <a:pt x="0" y="41148"/>
                  </a:moveTo>
                  <a:lnTo>
                    <a:pt x="4114800" y="4114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41148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82879" y="4754879"/>
              <a:ext cx="8961120" cy="388620"/>
            </a:xfrm>
            <a:custGeom>
              <a:avLst/>
              <a:gdLst/>
              <a:ahLst/>
              <a:cxnLst/>
              <a:rect l="l" t="t" r="r" b="b"/>
              <a:pathLst>
                <a:path w="8961120" h="388620">
                  <a:moveTo>
                    <a:pt x="8961120" y="0"/>
                  </a:moveTo>
                  <a:lnTo>
                    <a:pt x="0" y="0"/>
                  </a:lnTo>
                  <a:lnTo>
                    <a:pt x="0" y="388619"/>
                  </a:lnTo>
                  <a:lnTo>
                    <a:pt x="8961120" y="388619"/>
                  </a:lnTo>
                  <a:lnTo>
                    <a:pt x="8961120" y="0"/>
                  </a:lnTo>
                  <a:close/>
                </a:path>
              </a:pathLst>
            </a:custGeom>
            <a:solidFill>
              <a:srgbClr val="1A2D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82879" y="4754879"/>
              <a:ext cx="8961120" cy="388620"/>
            </a:xfrm>
            <a:custGeom>
              <a:avLst/>
              <a:gdLst/>
              <a:ahLst/>
              <a:cxnLst/>
              <a:rect l="l" t="t" r="r" b="b"/>
              <a:pathLst>
                <a:path w="8961120" h="388620">
                  <a:moveTo>
                    <a:pt x="0" y="388619"/>
                  </a:moveTo>
                  <a:lnTo>
                    <a:pt x="8961120" y="388619"/>
                  </a:lnTo>
                  <a:lnTo>
                    <a:pt x="8961120" y="0"/>
                  </a:lnTo>
                  <a:lnTo>
                    <a:pt x="0" y="0"/>
                  </a:lnTo>
                  <a:lnTo>
                    <a:pt x="0" y="388619"/>
                  </a:lnTo>
                  <a:close/>
                </a:path>
              </a:pathLst>
            </a:custGeom>
            <a:ln w="12700">
              <a:solidFill>
                <a:srgbClr val="1A2D3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53059" y="2813685"/>
            <a:ext cx="4161154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90C7D7"/>
                </a:solidFill>
                <a:latin typeface="Calibri"/>
                <a:cs typeface="Calibri"/>
              </a:rPr>
              <a:t>Group</a:t>
            </a:r>
            <a:r>
              <a:rPr dirty="0" sz="1200" spc="-3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0C7D7"/>
                </a:solidFill>
                <a:latin typeface="Calibri"/>
                <a:cs typeface="Calibri"/>
              </a:rPr>
              <a:t>03</a:t>
            </a:r>
            <a:r>
              <a:rPr dirty="0" sz="1200" spc="26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0C7D7"/>
                </a:solidFill>
                <a:latin typeface="Calibri"/>
                <a:cs typeface="Calibri"/>
              </a:rPr>
              <a:t>|</a:t>
            </a:r>
            <a:r>
              <a:rPr dirty="0" sz="1200" spc="25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0C7D7"/>
                </a:solidFill>
                <a:latin typeface="Calibri"/>
                <a:cs typeface="Calibri"/>
              </a:rPr>
              <a:t>2nd</a:t>
            </a:r>
            <a:r>
              <a:rPr dirty="0" sz="1200" spc="-2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90C7D7"/>
                </a:solidFill>
                <a:latin typeface="Calibri"/>
                <a:cs typeface="Calibri"/>
              </a:rPr>
              <a:t>Year</a:t>
            </a:r>
            <a:r>
              <a:rPr dirty="0" sz="1200" spc="-2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0C7D7"/>
                </a:solidFill>
                <a:latin typeface="Calibri"/>
                <a:cs typeface="Calibri"/>
              </a:rPr>
              <a:t>Undergraduate</a:t>
            </a:r>
            <a:r>
              <a:rPr dirty="0" sz="1200" spc="21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0C7D7"/>
                </a:solidFill>
                <a:latin typeface="Calibri"/>
                <a:cs typeface="Calibri"/>
              </a:rPr>
              <a:t>|</a:t>
            </a:r>
            <a:r>
              <a:rPr dirty="0" sz="1200" spc="254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0C7D7"/>
                </a:solidFill>
                <a:latin typeface="Calibri"/>
                <a:cs typeface="Calibri"/>
              </a:rPr>
              <a:t>Department</a:t>
            </a:r>
            <a:r>
              <a:rPr dirty="0" sz="1200" spc="-5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0C7D7"/>
                </a:solidFill>
                <a:latin typeface="Calibri"/>
                <a:cs typeface="Calibri"/>
              </a:rPr>
              <a:t>of</a:t>
            </a:r>
            <a:r>
              <a:rPr dirty="0" sz="1200" spc="1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90C7D7"/>
                </a:solidFill>
                <a:latin typeface="Calibri"/>
                <a:cs typeface="Calibri"/>
              </a:rPr>
              <a:t>Computing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Perera</a:t>
            </a:r>
            <a:r>
              <a:rPr dirty="0" sz="1100" spc="-1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J</a:t>
            </a:r>
            <a:r>
              <a:rPr dirty="0" sz="1100" spc="-1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A</a:t>
            </a:r>
            <a:r>
              <a:rPr dirty="0" sz="1100" spc="-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A</a:t>
            </a:r>
            <a:r>
              <a:rPr dirty="0" sz="1100" spc="-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D</a:t>
            </a:r>
            <a:r>
              <a:rPr dirty="0" sz="1100" spc="23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•</a:t>
            </a:r>
            <a:r>
              <a:rPr dirty="0" sz="1100" spc="23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Bandara</a:t>
            </a:r>
            <a:r>
              <a:rPr dirty="0" sz="1100" spc="-2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M</a:t>
            </a:r>
            <a:r>
              <a:rPr dirty="0" sz="1100" spc="-1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R</a:t>
            </a:r>
            <a:r>
              <a:rPr dirty="0" sz="1100" spc="-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V</a:t>
            </a:r>
            <a:r>
              <a:rPr dirty="0" sz="1100" spc="24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•</a:t>
            </a:r>
            <a:r>
              <a:rPr dirty="0" sz="1100" spc="23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Silva</a:t>
            </a:r>
            <a:r>
              <a:rPr dirty="0" sz="1100" spc="-1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G</a:t>
            </a:r>
            <a:r>
              <a:rPr dirty="0" sz="1100" spc="-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B</a:t>
            </a:r>
            <a:r>
              <a:rPr dirty="0" sz="1100" spc="-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D</a:t>
            </a:r>
            <a:r>
              <a:rPr dirty="0" sz="1100" spc="24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•</a:t>
            </a:r>
            <a:r>
              <a:rPr dirty="0" sz="1100" spc="23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Gunarathna</a:t>
            </a:r>
            <a:r>
              <a:rPr dirty="0" sz="1100" spc="-1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W</a:t>
            </a:r>
            <a:r>
              <a:rPr dirty="0" sz="1100" spc="-1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A</a:t>
            </a:r>
            <a:r>
              <a:rPr dirty="0" sz="1100" spc="-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A</a:t>
            </a:r>
            <a:r>
              <a:rPr dirty="0" sz="1100" spc="-1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BADDE8"/>
                </a:solidFill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025267" y="4842764"/>
            <a:ext cx="31832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Faculty</a:t>
            </a:r>
            <a:r>
              <a:rPr dirty="0" sz="1000" spc="-25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of</a:t>
            </a:r>
            <a:r>
              <a:rPr dirty="0" sz="1000" spc="-25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Applied</a:t>
            </a:r>
            <a:r>
              <a:rPr dirty="0" sz="1000" spc="-30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Sciences</a:t>
            </a:r>
            <a:r>
              <a:rPr dirty="0" sz="1000" spc="204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|</a:t>
            </a:r>
            <a:r>
              <a:rPr dirty="0" sz="1000" spc="190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Rajarata</a:t>
            </a:r>
            <a:r>
              <a:rPr dirty="0" sz="1000" spc="-35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University</a:t>
            </a:r>
            <a:r>
              <a:rPr dirty="0" sz="1000" spc="-15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of</a:t>
            </a:r>
            <a:r>
              <a:rPr dirty="0" sz="1000" spc="-30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80B8CC"/>
                </a:solidFill>
                <a:latin typeface="Calibri"/>
                <a:cs typeface="Calibri"/>
              </a:rPr>
              <a:t>Sri</a:t>
            </a:r>
            <a:r>
              <a:rPr dirty="0" sz="1000" spc="-15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80B8CC"/>
                </a:solidFill>
                <a:latin typeface="Calibri"/>
                <a:cs typeface="Calibri"/>
              </a:rPr>
              <a:t>Lanka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Problem</a:t>
            </a:r>
            <a:r>
              <a:rPr dirty="0" sz="2400" spc="-70"/>
              <a:t> </a:t>
            </a:r>
            <a:r>
              <a:rPr dirty="0" sz="2400" spc="-10"/>
              <a:t>Statement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8884666" y="20187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7160" y="722376"/>
            <a:ext cx="5241925" cy="1355725"/>
            <a:chOff x="137160" y="722376"/>
            <a:chExt cx="5241925" cy="13557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722376"/>
              <a:ext cx="5241798" cy="135559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74320" y="804672"/>
              <a:ext cx="5029200" cy="1143000"/>
            </a:xfrm>
            <a:custGeom>
              <a:avLst/>
              <a:gdLst/>
              <a:ahLst/>
              <a:cxnLst/>
              <a:rect l="l" t="t" r="r" b="b"/>
              <a:pathLst>
                <a:path w="5029200" h="1143000">
                  <a:moveTo>
                    <a:pt x="0" y="1143000"/>
                  </a:moveTo>
                  <a:lnTo>
                    <a:pt x="5029200" y="11430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74320" y="80467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74320" y="80467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84047" y="804672"/>
            <a:ext cx="4919980" cy="11430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4287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125"/>
              </a:spcBef>
            </a:pPr>
            <a:r>
              <a:rPr dirty="0" sz="1300" b="1">
                <a:solidFill>
                  <a:srgbClr val="0A4F6C"/>
                </a:solidFill>
                <a:latin typeface="Trebuchet MS"/>
                <a:cs typeface="Trebuchet MS"/>
              </a:rPr>
              <a:t>Road</a:t>
            </a:r>
            <a:r>
              <a:rPr dirty="0" sz="1300" spc="-30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0A4F6C"/>
                </a:solidFill>
                <a:latin typeface="Trebuchet MS"/>
                <a:cs typeface="Trebuchet MS"/>
              </a:rPr>
              <a:t>Damage</a:t>
            </a:r>
            <a:r>
              <a:rPr dirty="0" sz="1300" spc="-35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0A4F6C"/>
                </a:solidFill>
                <a:latin typeface="Trebuchet MS"/>
                <a:cs typeface="Trebuchet MS"/>
              </a:rPr>
              <a:t>is</a:t>
            </a:r>
            <a:r>
              <a:rPr dirty="0" sz="1300" spc="-15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0A4F6C"/>
                </a:solidFill>
                <a:latin typeface="Trebuchet MS"/>
                <a:cs typeface="Trebuchet MS"/>
              </a:rPr>
              <a:t>Widespread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300">
              <a:latin typeface="Trebuchet MS"/>
              <a:cs typeface="Trebuchet MS"/>
            </a:endParaRPr>
          </a:p>
          <a:p>
            <a:pPr marL="118745"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Sri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Lankan</a:t>
            </a:r>
            <a:r>
              <a:rPr dirty="0" sz="10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roads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face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potholes,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cracks,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patch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failures,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and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edge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cracking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due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to</a:t>
            </a:r>
            <a:endParaRPr sz="105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heavy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traffic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and adverse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weather.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37160" y="2048255"/>
            <a:ext cx="5241925" cy="1355725"/>
            <a:chOff x="137160" y="2048255"/>
            <a:chExt cx="5241925" cy="135572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048255"/>
              <a:ext cx="5241798" cy="1355597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74320" y="2130551"/>
              <a:ext cx="5029200" cy="1143000"/>
            </a:xfrm>
            <a:custGeom>
              <a:avLst/>
              <a:gdLst/>
              <a:ahLst/>
              <a:cxnLst/>
              <a:rect l="l" t="t" r="r" b="b"/>
              <a:pathLst>
                <a:path w="5029200" h="1143000">
                  <a:moveTo>
                    <a:pt x="0" y="1143000"/>
                  </a:moveTo>
                  <a:lnTo>
                    <a:pt x="5029200" y="11430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74320" y="2130551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74320" y="2130551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84047" y="2130551"/>
            <a:ext cx="4919980" cy="11430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43510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130"/>
              </a:spcBef>
            </a:pPr>
            <a:r>
              <a:rPr dirty="0" sz="1300" b="1">
                <a:solidFill>
                  <a:srgbClr val="0A4F6C"/>
                </a:solidFill>
                <a:latin typeface="Trebuchet MS"/>
                <a:cs typeface="Trebuchet MS"/>
              </a:rPr>
              <a:t>Manual</a:t>
            </a:r>
            <a:r>
              <a:rPr dirty="0" sz="1300" spc="-65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0A4F6C"/>
                </a:solidFill>
                <a:latin typeface="Trebuchet MS"/>
                <a:cs typeface="Trebuchet MS"/>
              </a:rPr>
              <a:t>Inspection</a:t>
            </a:r>
            <a:r>
              <a:rPr dirty="0" sz="1300" spc="-20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0A4F6C"/>
                </a:solidFill>
                <a:latin typeface="Trebuchet MS"/>
                <a:cs typeface="Trebuchet MS"/>
              </a:rPr>
              <a:t>is</a:t>
            </a:r>
            <a:r>
              <a:rPr dirty="0" sz="1300" spc="-40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0A4F6C"/>
                </a:solidFill>
                <a:latin typeface="Trebuchet MS"/>
                <a:cs typeface="Trebuchet MS"/>
              </a:rPr>
              <a:t>Inadequate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300">
              <a:latin typeface="Trebuchet MS"/>
              <a:cs typeface="Trebuchet MS"/>
            </a:endParaRPr>
          </a:p>
          <a:p>
            <a:pPr marL="118745" marR="737870"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Current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assessments</a:t>
            </a:r>
            <a:r>
              <a:rPr dirty="0" sz="1050" spc="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are</a:t>
            </a:r>
            <a:r>
              <a:rPr dirty="0" sz="1050" spc="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expensive,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labour-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intensive,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time-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consuming,</a:t>
            </a:r>
            <a:r>
              <a:rPr dirty="0" sz="1050" spc="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and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subjective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—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 inconsistent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results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across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inspectors.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37160" y="3374110"/>
            <a:ext cx="5241925" cy="1355725"/>
            <a:chOff x="137160" y="3374110"/>
            <a:chExt cx="5241925" cy="1355725"/>
          </a:xfrm>
        </p:grpSpPr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374110"/>
              <a:ext cx="5241798" cy="135559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274320" y="3456432"/>
              <a:ext cx="5029200" cy="1143000"/>
            </a:xfrm>
            <a:custGeom>
              <a:avLst/>
              <a:gdLst/>
              <a:ahLst/>
              <a:cxnLst/>
              <a:rect l="l" t="t" r="r" b="b"/>
              <a:pathLst>
                <a:path w="5029200" h="1143000">
                  <a:moveTo>
                    <a:pt x="0" y="1143000"/>
                  </a:moveTo>
                  <a:lnTo>
                    <a:pt x="5029200" y="11430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74320" y="345643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74320" y="345643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84047" y="3456432"/>
            <a:ext cx="4919980" cy="11430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4414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1135"/>
              </a:spcBef>
            </a:pPr>
            <a:r>
              <a:rPr dirty="0" sz="1300" b="1">
                <a:solidFill>
                  <a:srgbClr val="0A4F6C"/>
                </a:solidFill>
                <a:latin typeface="Trebuchet MS"/>
                <a:cs typeface="Trebuchet MS"/>
              </a:rPr>
              <a:t>Scale</a:t>
            </a:r>
            <a:r>
              <a:rPr dirty="0" sz="1300" spc="-20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0A4F6C"/>
                </a:solidFill>
                <a:latin typeface="Trebuchet MS"/>
                <a:cs typeface="Trebuchet MS"/>
              </a:rPr>
              <a:t>Challenge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300">
              <a:latin typeface="Trebuchet MS"/>
              <a:cs typeface="Trebuchet MS"/>
            </a:endParaRPr>
          </a:p>
          <a:p>
            <a:pPr marL="118745" marR="1098550"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Monitoring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large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national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road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networks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manually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is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impractical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and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unsustainable.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0679" y="722376"/>
            <a:ext cx="3504437" cy="4190238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5577840" y="804672"/>
            <a:ext cx="3291840" cy="3977640"/>
          </a:xfrm>
          <a:prstGeom prst="rect">
            <a:avLst/>
          </a:prstGeom>
          <a:solidFill>
            <a:srgbClr val="0A3B5D"/>
          </a:solidFill>
          <a:ln w="12700">
            <a:solidFill>
              <a:srgbClr val="0A4F6C"/>
            </a:solidFill>
          </a:ln>
        </p:spPr>
        <p:txBody>
          <a:bodyPr wrap="square" lIns="0" tIns="159385" rIns="0" bIns="0" rtlCol="0" vert="horz">
            <a:spAutoFit/>
          </a:bodyPr>
          <a:lstStyle/>
          <a:p>
            <a:pPr marL="955040">
              <a:lnSpc>
                <a:spcPct val="100000"/>
              </a:lnSpc>
              <a:spcBef>
                <a:spcPts val="1255"/>
              </a:spcBef>
            </a:pPr>
            <a:r>
              <a:rPr dirty="0" sz="1600" b="1">
                <a:solidFill>
                  <a:srgbClr val="E89F1F"/>
                </a:solidFill>
                <a:latin typeface="Trebuchet MS"/>
                <a:cs typeface="Trebuchet MS"/>
              </a:rPr>
              <a:t>Why</a:t>
            </a:r>
            <a:r>
              <a:rPr dirty="0" sz="1600" spc="-30" b="1">
                <a:solidFill>
                  <a:srgbClr val="E89F1F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E89F1F"/>
                </a:solidFill>
                <a:latin typeface="Trebuchet MS"/>
                <a:cs typeface="Trebuchet MS"/>
              </a:rPr>
              <a:t>It</a:t>
            </a:r>
            <a:r>
              <a:rPr dirty="0" sz="1600" spc="-5" b="1">
                <a:solidFill>
                  <a:srgbClr val="E89F1F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E89F1F"/>
                </a:solidFill>
                <a:latin typeface="Trebuchet MS"/>
                <a:cs typeface="Trebuchet MS"/>
              </a:rPr>
              <a:t>Matters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600">
              <a:latin typeface="Trebuchet MS"/>
              <a:cs typeface="Trebuchet MS"/>
            </a:endParaRPr>
          </a:p>
          <a:p>
            <a:pPr marL="544830" indent="-173355">
              <a:lnSpc>
                <a:spcPct val="100000"/>
              </a:lnSpc>
              <a:buFont typeface="Arial MT"/>
              <a:buChar char="•"/>
              <a:tabLst>
                <a:tab pos="544830" algn="l"/>
              </a:tabLst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Vehicle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Damage</a:t>
            </a:r>
            <a:endParaRPr sz="1200">
              <a:latin typeface="Calibri"/>
              <a:cs typeface="Calibri"/>
            </a:endParaRPr>
          </a:p>
          <a:p>
            <a:pPr marL="640715">
              <a:lnSpc>
                <a:spcPct val="100000"/>
              </a:lnSpc>
              <a:spcBef>
                <a:spcPts val="595"/>
              </a:spcBef>
            </a:pPr>
            <a:r>
              <a:rPr dirty="0" sz="950" spc="-10">
                <a:solidFill>
                  <a:srgbClr val="90C7D7"/>
                </a:solidFill>
                <a:latin typeface="Calibri"/>
                <a:cs typeface="Calibri"/>
              </a:rPr>
              <a:t>Increased</a:t>
            </a:r>
            <a:r>
              <a:rPr dirty="0" sz="950">
                <a:solidFill>
                  <a:srgbClr val="90C7D7"/>
                </a:solidFill>
                <a:latin typeface="Calibri"/>
                <a:cs typeface="Calibri"/>
              </a:rPr>
              <a:t> operating</a:t>
            </a:r>
            <a:r>
              <a:rPr dirty="0" sz="950" spc="-1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90C7D7"/>
                </a:solidFill>
                <a:latin typeface="Calibri"/>
                <a:cs typeface="Calibri"/>
              </a:rPr>
              <a:t>costs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950">
              <a:latin typeface="Calibri"/>
              <a:cs typeface="Calibri"/>
            </a:endParaRPr>
          </a:p>
          <a:p>
            <a:pPr marL="544830" indent="-17335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44830" algn="l"/>
              </a:tabLst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Safety</a:t>
            </a:r>
            <a:r>
              <a:rPr dirty="0" sz="12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endParaRPr sz="1200">
              <a:latin typeface="Calibri"/>
              <a:cs typeface="Calibri"/>
            </a:endParaRPr>
          </a:p>
          <a:p>
            <a:pPr marL="640715">
              <a:lnSpc>
                <a:spcPct val="100000"/>
              </a:lnSpc>
              <a:spcBef>
                <a:spcPts val="590"/>
              </a:spcBef>
            </a:pPr>
            <a:r>
              <a:rPr dirty="0" sz="950">
                <a:solidFill>
                  <a:srgbClr val="90C7D7"/>
                </a:solidFill>
                <a:latin typeface="Calibri"/>
                <a:cs typeface="Calibri"/>
              </a:rPr>
              <a:t>Accidents</a:t>
            </a:r>
            <a:r>
              <a:rPr dirty="0" sz="950" spc="-2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90C7D7"/>
                </a:solidFill>
                <a:latin typeface="Calibri"/>
                <a:cs typeface="Calibri"/>
              </a:rPr>
              <a:t>due</a:t>
            </a:r>
            <a:r>
              <a:rPr dirty="0" sz="950" spc="-2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90C7D7"/>
                </a:solidFill>
                <a:latin typeface="Calibri"/>
                <a:cs typeface="Calibri"/>
              </a:rPr>
              <a:t>to</a:t>
            </a:r>
            <a:r>
              <a:rPr dirty="0" sz="950" spc="-2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90C7D7"/>
                </a:solidFill>
                <a:latin typeface="Calibri"/>
                <a:cs typeface="Calibri"/>
              </a:rPr>
              <a:t>poor</a:t>
            </a:r>
            <a:r>
              <a:rPr dirty="0" sz="950" spc="-3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90C7D7"/>
                </a:solidFill>
                <a:latin typeface="Calibri"/>
                <a:cs typeface="Calibri"/>
              </a:rPr>
              <a:t>roads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950">
              <a:latin typeface="Calibri"/>
              <a:cs typeface="Calibri"/>
            </a:endParaRPr>
          </a:p>
          <a:p>
            <a:pPr marL="544830" indent="-173355">
              <a:lnSpc>
                <a:spcPct val="100000"/>
              </a:lnSpc>
              <a:buFont typeface="Arial MT"/>
              <a:buChar char="•"/>
              <a:tabLst>
                <a:tab pos="544830" algn="l"/>
              </a:tabLst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Economic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endParaRPr sz="1200">
              <a:latin typeface="Calibri"/>
              <a:cs typeface="Calibri"/>
            </a:endParaRPr>
          </a:p>
          <a:p>
            <a:pPr marL="640715">
              <a:lnSpc>
                <a:spcPct val="100000"/>
              </a:lnSpc>
              <a:spcBef>
                <a:spcPts val="595"/>
              </a:spcBef>
            </a:pPr>
            <a:r>
              <a:rPr dirty="0" sz="950" spc="-10">
                <a:solidFill>
                  <a:srgbClr val="90C7D7"/>
                </a:solidFill>
                <a:latin typeface="Calibri"/>
                <a:cs typeface="Calibri"/>
              </a:rPr>
              <a:t>Maintenance</a:t>
            </a:r>
            <a:r>
              <a:rPr dirty="0" sz="950" spc="1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90C7D7"/>
                </a:solidFill>
                <a:latin typeface="Calibri"/>
                <a:cs typeface="Calibri"/>
              </a:rPr>
              <a:t>budget</a:t>
            </a:r>
            <a:r>
              <a:rPr dirty="0" sz="950" spc="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90C7D7"/>
                </a:solidFill>
                <a:latin typeface="Calibri"/>
                <a:cs typeface="Calibri"/>
              </a:rPr>
              <a:t>inefficiency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950">
              <a:latin typeface="Calibri"/>
              <a:cs typeface="Calibri"/>
            </a:endParaRPr>
          </a:p>
          <a:p>
            <a:pPr marL="544830" indent="-173355">
              <a:lnSpc>
                <a:spcPct val="100000"/>
              </a:lnSpc>
              <a:buFont typeface="Arial MT"/>
              <a:buChar char="•"/>
              <a:tabLst>
                <a:tab pos="544830" algn="l"/>
              </a:tabLst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Sri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Lanka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Focus</a:t>
            </a:r>
            <a:endParaRPr sz="1200">
              <a:latin typeface="Calibri"/>
              <a:cs typeface="Calibri"/>
            </a:endParaRPr>
          </a:p>
          <a:p>
            <a:pPr marL="640715">
              <a:lnSpc>
                <a:spcPct val="100000"/>
              </a:lnSpc>
              <a:spcBef>
                <a:spcPts val="595"/>
              </a:spcBef>
            </a:pPr>
            <a:r>
              <a:rPr dirty="0" sz="950">
                <a:solidFill>
                  <a:srgbClr val="90C7D7"/>
                </a:solidFill>
                <a:latin typeface="Calibri"/>
                <a:cs typeface="Calibri"/>
              </a:rPr>
              <a:t>Mihintale,</a:t>
            </a:r>
            <a:r>
              <a:rPr dirty="0" sz="950" spc="2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90C7D7"/>
                </a:solidFill>
                <a:latin typeface="Calibri"/>
                <a:cs typeface="Calibri"/>
              </a:rPr>
              <a:t>Anuradhapura,</a:t>
            </a:r>
            <a:r>
              <a:rPr dirty="0" sz="950" spc="5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90C7D7"/>
                </a:solidFill>
                <a:latin typeface="Calibri"/>
                <a:cs typeface="Calibri"/>
              </a:rPr>
              <a:t>residential</a:t>
            </a:r>
            <a:r>
              <a:rPr dirty="0" sz="950" spc="20">
                <a:solidFill>
                  <a:srgbClr val="90C7D7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90C7D7"/>
                </a:solidFill>
                <a:latin typeface="Calibri"/>
                <a:cs typeface="Calibri"/>
              </a:rPr>
              <a:t>roads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Project</a:t>
            </a:r>
            <a:r>
              <a:rPr dirty="0" sz="2400" spc="-55"/>
              <a:t> </a:t>
            </a:r>
            <a:r>
              <a:rPr dirty="0" sz="2400" spc="-10"/>
              <a:t>Objectives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8884666" y="20187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7160" y="722376"/>
            <a:ext cx="4373245" cy="1995805"/>
            <a:chOff x="137160" y="722376"/>
            <a:chExt cx="4373245" cy="19958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722376"/>
              <a:ext cx="4373117" cy="199567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74320" y="804672"/>
              <a:ext cx="4160520" cy="1783080"/>
            </a:xfrm>
            <a:custGeom>
              <a:avLst/>
              <a:gdLst/>
              <a:ahLst/>
              <a:cxnLst/>
              <a:rect l="l" t="t" r="r" b="b"/>
              <a:pathLst>
                <a:path w="4160520" h="1783080">
                  <a:moveTo>
                    <a:pt x="0" y="1783079"/>
                  </a:moveTo>
                  <a:lnTo>
                    <a:pt x="4160520" y="178307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783079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74320" y="804672"/>
            <a:ext cx="4160520" cy="475615"/>
          </a:xfrm>
          <a:prstGeom prst="rect">
            <a:avLst/>
          </a:prstGeom>
          <a:solidFill>
            <a:srgbClr val="0A3B5D"/>
          </a:solidFill>
          <a:ln w="12700">
            <a:solidFill>
              <a:srgbClr val="1A799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625"/>
              </a:spcBef>
              <a:tabLst>
                <a:tab pos="593725" algn="l"/>
              </a:tabLst>
            </a:pPr>
            <a:r>
              <a:rPr dirty="0" baseline="-4629" sz="2700" spc="-37" b="1">
                <a:solidFill>
                  <a:srgbClr val="E89F1F"/>
                </a:solidFill>
                <a:latin typeface="Calibri"/>
                <a:cs typeface="Calibri"/>
              </a:rPr>
              <a:t>01</a:t>
            </a:r>
            <a:r>
              <a:rPr dirty="0" baseline="-4629" sz="2700" b="1">
                <a:solidFill>
                  <a:srgbClr val="E89F1F"/>
                </a:solidFill>
                <a:latin typeface="Calibri"/>
                <a:cs typeface="Calibri"/>
              </a:rPr>
              <a:t>	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Develop</a:t>
            </a:r>
            <a:r>
              <a:rPr dirty="0" sz="1300" spc="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Trebuchet MS"/>
                <a:cs typeface="Trebuchet MS"/>
              </a:rPr>
              <a:t>Video-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1300" spc="-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4320" y="1280160"/>
            <a:ext cx="4160520" cy="13081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050">
              <a:latin typeface="Times New Roman"/>
              <a:cs typeface="Times New Roman"/>
            </a:endParaRPr>
          </a:p>
          <a:p>
            <a:pPr marL="164465" marR="207010"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Design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and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implement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image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processing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pipeline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that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detects</a:t>
            </a:r>
            <a:r>
              <a:rPr dirty="0" sz="105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road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surface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damages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from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mobile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video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footage.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572000" y="722376"/>
            <a:ext cx="4373245" cy="1995805"/>
            <a:chOff x="4572000" y="722376"/>
            <a:chExt cx="4373245" cy="1995805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722376"/>
              <a:ext cx="4373117" cy="199567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709160" y="804672"/>
              <a:ext cx="4160520" cy="1783080"/>
            </a:xfrm>
            <a:custGeom>
              <a:avLst/>
              <a:gdLst/>
              <a:ahLst/>
              <a:cxnLst/>
              <a:rect l="l" t="t" r="r" b="b"/>
              <a:pathLst>
                <a:path w="4160520" h="1783080">
                  <a:moveTo>
                    <a:pt x="0" y="1783079"/>
                  </a:moveTo>
                  <a:lnTo>
                    <a:pt x="4160520" y="178307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783079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709159" y="804672"/>
            <a:ext cx="4160520" cy="475615"/>
          </a:xfrm>
          <a:prstGeom prst="rect">
            <a:avLst/>
          </a:prstGeom>
          <a:solidFill>
            <a:srgbClr val="0A3B5D"/>
          </a:solidFill>
          <a:ln w="12700">
            <a:solidFill>
              <a:srgbClr val="1A799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625"/>
              </a:spcBef>
              <a:tabLst>
                <a:tab pos="594995" algn="l"/>
              </a:tabLst>
            </a:pPr>
            <a:r>
              <a:rPr dirty="0" baseline="-4629" sz="2700" spc="-37" b="1">
                <a:solidFill>
                  <a:srgbClr val="E89F1F"/>
                </a:solidFill>
                <a:latin typeface="Calibri"/>
                <a:cs typeface="Calibri"/>
              </a:rPr>
              <a:t>02</a:t>
            </a:r>
            <a:r>
              <a:rPr dirty="0" baseline="-4629" sz="2700" b="1">
                <a:solidFill>
                  <a:srgbClr val="E89F1F"/>
                </a:solidFill>
                <a:latin typeface="Calibri"/>
                <a:cs typeface="Calibri"/>
              </a:rPr>
              <a:t>	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Apply</a:t>
            </a:r>
            <a:r>
              <a:rPr dirty="0" sz="130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Frame</a:t>
            </a:r>
            <a:r>
              <a:rPr dirty="0" sz="1300" spc="-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Enhancement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709159" y="1280160"/>
            <a:ext cx="4160520" cy="13081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050">
              <a:latin typeface="Times New Roman"/>
              <a:cs typeface="Times New Roman"/>
            </a:endParaRPr>
          </a:p>
          <a:p>
            <a:pPr marL="165100" marR="600710"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Use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grayscale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conversion,</a:t>
            </a:r>
            <a:r>
              <a:rPr dirty="0" sz="10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noise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reduction,</a:t>
            </a:r>
            <a:r>
              <a:rPr dirty="0" sz="10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CLAHE</a:t>
            </a:r>
            <a:r>
              <a:rPr dirty="0" sz="1050" spc="-4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contrast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enhancement,</a:t>
            </a:r>
            <a:r>
              <a:rPr dirty="0" sz="10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illumination</a:t>
            </a:r>
            <a:r>
              <a:rPr dirty="0" sz="10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correction,</a:t>
            </a:r>
            <a:r>
              <a:rPr dirty="0" sz="10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and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edge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sharpening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to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improve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frame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quality.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37160" y="2734055"/>
            <a:ext cx="4373245" cy="1995805"/>
            <a:chOff x="137160" y="2734055"/>
            <a:chExt cx="4373245" cy="1995805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734055"/>
              <a:ext cx="4373118" cy="199567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74320" y="2816351"/>
              <a:ext cx="4160520" cy="1783080"/>
            </a:xfrm>
            <a:custGeom>
              <a:avLst/>
              <a:gdLst/>
              <a:ahLst/>
              <a:cxnLst/>
              <a:rect l="l" t="t" r="r" b="b"/>
              <a:pathLst>
                <a:path w="4160520" h="1783079">
                  <a:moveTo>
                    <a:pt x="0" y="1783080"/>
                  </a:moveTo>
                  <a:lnTo>
                    <a:pt x="4160520" y="178308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783080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74320" y="2816351"/>
            <a:ext cx="4160520" cy="475615"/>
          </a:xfrm>
          <a:prstGeom prst="rect">
            <a:avLst/>
          </a:prstGeom>
          <a:solidFill>
            <a:srgbClr val="0A3B5D"/>
          </a:solidFill>
          <a:ln w="12700">
            <a:solidFill>
              <a:srgbClr val="1A799C"/>
            </a:solidFill>
          </a:ln>
        </p:spPr>
        <p:txBody>
          <a:bodyPr wrap="square" lIns="0" tIns="80010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630"/>
              </a:spcBef>
              <a:tabLst>
                <a:tab pos="593725" algn="l"/>
              </a:tabLst>
            </a:pPr>
            <a:r>
              <a:rPr dirty="0" baseline="-4629" sz="2700" spc="-37" b="1">
                <a:solidFill>
                  <a:srgbClr val="E89F1F"/>
                </a:solidFill>
                <a:latin typeface="Calibri"/>
                <a:cs typeface="Calibri"/>
              </a:rPr>
              <a:t>03</a:t>
            </a:r>
            <a:r>
              <a:rPr dirty="0" baseline="-4629" sz="2700" b="1">
                <a:solidFill>
                  <a:srgbClr val="E89F1F"/>
                </a:solidFill>
                <a:latin typeface="Calibri"/>
                <a:cs typeface="Calibri"/>
              </a:rPr>
              <a:t>	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Perform</a:t>
            </a:r>
            <a:r>
              <a:rPr dirty="0" sz="1300" spc="-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Reliable</a:t>
            </a:r>
            <a:r>
              <a:rPr dirty="0" sz="1300" spc="-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Segmentation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4320" y="3291840"/>
            <a:ext cx="4160520" cy="13081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050">
              <a:latin typeface="Times New Roman"/>
              <a:cs typeface="Times New Roman"/>
            </a:endParaRPr>
          </a:p>
          <a:p>
            <a:pPr marL="164465" marR="30226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Apply</a:t>
            </a:r>
            <a:r>
              <a:rPr dirty="0" sz="1050" spc="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Black-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Hat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morphological</a:t>
            </a:r>
            <a:r>
              <a:rPr dirty="0" sz="105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transform,</a:t>
            </a:r>
            <a:r>
              <a:rPr dirty="0" sz="105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binary</a:t>
            </a:r>
            <a:r>
              <a:rPr dirty="0" sz="1050" spc="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thresholding, morphological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closing,</a:t>
            </a:r>
            <a:r>
              <a:rPr dirty="0" sz="105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and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connected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component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analysis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to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isolate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damage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regions.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572000" y="2734055"/>
            <a:ext cx="4373245" cy="1995805"/>
            <a:chOff x="4572000" y="2734055"/>
            <a:chExt cx="4373245" cy="1995805"/>
          </a:xfrm>
        </p:grpSpPr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734055"/>
              <a:ext cx="4373117" cy="1995677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4709160" y="2816351"/>
              <a:ext cx="4160520" cy="1783080"/>
            </a:xfrm>
            <a:custGeom>
              <a:avLst/>
              <a:gdLst/>
              <a:ahLst/>
              <a:cxnLst/>
              <a:rect l="l" t="t" r="r" b="b"/>
              <a:pathLst>
                <a:path w="4160520" h="1783079">
                  <a:moveTo>
                    <a:pt x="0" y="1783080"/>
                  </a:moveTo>
                  <a:lnTo>
                    <a:pt x="4160520" y="178308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783080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709159" y="2816351"/>
            <a:ext cx="4160520" cy="475615"/>
          </a:xfrm>
          <a:prstGeom prst="rect">
            <a:avLst/>
          </a:prstGeom>
          <a:solidFill>
            <a:srgbClr val="0A3B5D"/>
          </a:solidFill>
          <a:ln w="12700">
            <a:solidFill>
              <a:srgbClr val="1A799C"/>
            </a:solidFill>
          </a:ln>
        </p:spPr>
        <p:txBody>
          <a:bodyPr wrap="square" lIns="0" tIns="80010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630"/>
              </a:spcBef>
              <a:tabLst>
                <a:tab pos="594995" algn="l"/>
              </a:tabLst>
            </a:pPr>
            <a:r>
              <a:rPr dirty="0" baseline="-4629" sz="2700" spc="-37" b="1">
                <a:solidFill>
                  <a:srgbClr val="E89F1F"/>
                </a:solidFill>
                <a:latin typeface="Calibri"/>
                <a:cs typeface="Calibri"/>
              </a:rPr>
              <a:t>04</a:t>
            </a:r>
            <a:r>
              <a:rPr dirty="0" baseline="-4629" sz="2700" b="1">
                <a:solidFill>
                  <a:srgbClr val="E89F1F"/>
                </a:solidFill>
                <a:latin typeface="Calibri"/>
                <a:cs typeface="Calibri"/>
              </a:rPr>
              <a:t>	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Evaluate</a:t>
            </a:r>
            <a:r>
              <a:rPr dirty="0" sz="13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dirty="0" sz="13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Performance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709159" y="3291840"/>
            <a:ext cx="4160520" cy="13081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050">
              <a:latin typeface="Times New Roman"/>
              <a:cs typeface="Times New Roman"/>
            </a:endParaRPr>
          </a:p>
          <a:p>
            <a:pPr marL="165100" marR="236854"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Measure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accuracy,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precision,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recall,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F1-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score,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and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IoU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against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ground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truth;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validate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under varying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environmental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conditions.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/>
              <a:t>Video</a:t>
            </a:r>
            <a:r>
              <a:rPr dirty="0" sz="2400" spc="-165"/>
              <a:t> </a:t>
            </a:r>
            <a:r>
              <a:rPr dirty="0" sz="2400"/>
              <a:t>Acquisition</a:t>
            </a:r>
            <a:r>
              <a:rPr dirty="0" sz="2400" spc="-50"/>
              <a:t> </a:t>
            </a:r>
            <a:r>
              <a:rPr dirty="0" sz="2400" spc="-10"/>
              <a:t>Method</a:t>
            </a:r>
            <a:endParaRPr sz="2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16" y="722257"/>
            <a:ext cx="4089804" cy="152957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74320" y="777240"/>
            <a:ext cx="3931920" cy="1371600"/>
          </a:xfrm>
          <a:prstGeom prst="rect">
            <a:avLst/>
          </a:prstGeom>
          <a:solidFill>
            <a:srgbClr val="0A3B5D"/>
          </a:solidFill>
          <a:ln w="12700">
            <a:solidFill>
              <a:srgbClr val="0A4F6C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795"/>
              </a:spcBef>
            </a:pPr>
            <a:r>
              <a:rPr dirty="0" sz="1400" spc="-10" b="1">
                <a:solidFill>
                  <a:srgbClr val="E89F1F"/>
                </a:solidFill>
                <a:latin typeface="Calibri"/>
                <a:cs typeface="Calibri"/>
              </a:rPr>
              <a:t>Recording</a:t>
            </a:r>
            <a:r>
              <a:rPr dirty="0" sz="1400" spc="-20" b="1">
                <a:solidFill>
                  <a:srgbClr val="E89F1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E89F1F"/>
                </a:solidFill>
                <a:latin typeface="Calibri"/>
                <a:cs typeface="Calibri"/>
              </a:rPr>
              <a:t>Device</a:t>
            </a:r>
            <a:endParaRPr sz="14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  <a:spcBef>
                <a:spcPts val="1520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Apple</a:t>
            </a:r>
            <a:r>
              <a:rPr dirty="0" sz="13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iPhone</a:t>
            </a:r>
            <a:r>
              <a:rPr dirty="0" sz="13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1300">
              <a:latin typeface="Calibri"/>
              <a:cs typeface="Calibri"/>
            </a:endParaRPr>
          </a:p>
          <a:p>
            <a:pPr marL="136525" marR="1950720">
              <a:lnSpc>
                <a:spcPct val="100000"/>
              </a:lnSpc>
              <a:spcBef>
                <a:spcPts val="20"/>
              </a:spcBef>
            </a:pPr>
            <a:r>
              <a:rPr dirty="0" sz="1100" spc="-10">
                <a:solidFill>
                  <a:srgbClr val="BADDE8"/>
                </a:solidFill>
                <a:latin typeface="Calibri"/>
                <a:cs typeface="Calibri"/>
              </a:rPr>
              <a:t>Resolution:</a:t>
            </a:r>
            <a:r>
              <a:rPr dirty="0" sz="1100" spc="-2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1920×1080</a:t>
            </a:r>
            <a:r>
              <a:rPr dirty="0" sz="1100" spc="-1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(Full </a:t>
            </a:r>
            <a:r>
              <a:rPr dirty="0" sz="1100" spc="-25">
                <a:solidFill>
                  <a:srgbClr val="BADDE8"/>
                </a:solidFill>
                <a:latin typeface="Calibri"/>
                <a:cs typeface="Calibri"/>
              </a:rPr>
              <a:t>HD)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Frame</a:t>
            </a:r>
            <a:r>
              <a:rPr dirty="0" sz="1100" spc="-3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Rate:</a:t>
            </a:r>
            <a:r>
              <a:rPr dirty="0" sz="1100" spc="-2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30</a:t>
            </a:r>
            <a:r>
              <a:rPr dirty="0" sz="1100" spc="-20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BADDE8"/>
                </a:solidFill>
                <a:latin typeface="Calibri"/>
                <a:cs typeface="Calibri"/>
              </a:rPr>
              <a:t>FPS</a:t>
            </a:r>
            <a:endParaRPr sz="11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</a:pPr>
            <a:r>
              <a:rPr dirty="0" sz="1100" spc="-10">
                <a:solidFill>
                  <a:srgbClr val="BADDE8"/>
                </a:solidFill>
                <a:latin typeface="Calibri"/>
                <a:cs typeface="Calibri"/>
              </a:rPr>
              <a:t>Duration:</a:t>
            </a:r>
            <a:r>
              <a:rPr dirty="0" sz="1100" spc="-2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15–30</a:t>
            </a:r>
            <a:r>
              <a:rPr dirty="0" sz="1100" spc="-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sec</a:t>
            </a:r>
            <a:r>
              <a:rPr dirty="0" sz="1100" spc="-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BADDE8"/>
                </a:solidFill>
                <a:latin typeface="Calibri"/>
                <a:cs typeface="Calibri"/>
              </a:rPr>
              <a:t>per</a:t>
            </a:r>
            <a:r>
              <a:rPr dirty="0" sz="1100" spc="5">
                <a:solidFill>
                  <a:srgbClr val="BADDE8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BADDE8"/>
                </a:solidFill>
                <a:latin typeface="Calibri"/>
                <a:cs typeface="Calibri"/>
              </a:rPr>
              <a:t>clip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37160" y="2203704"/>
            <a:ext cx="4144645" cy="1584325"/>
            <a:chOff x="137160" y="2203704"/>
            <a:chExt cx="4144645" cy="158432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2203704"/>
              <a:ext cx="4144517" cy="158419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84048" y="2286000"/>
              <a:ext cx="3822700" cy="1371600"/>
            </a:xfrm>
            <a:custGeom>
              <a:avLst/>
              <a:gdLst/>
              <a:ahLst/>
              <a:cxnLst/>
              <a:rect l="l" t="t" r="r" b="b"/>
              <a:pathLst>
                <a:path w="3822700" h="1371600">
                  <a:moveTo>
                    <a:pt x="0" y="1371600"/>
                  </a:moveTo>
                  <a:lnTo>
                    <a:pt x="3822192" y="1371600"/>
                  </a:lnTo>
                  <a:lnTo>
                    <a:pt x="3822192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74320" y="2286000"/>
              <a:ext cx="3931920" cy="1371600"/>
            </a:xfrm>
            <a:custGeom>
              <a:avLst/>
              <a:gdLst/>
              <a:ahLst/>
              <a:cxnLst/>
              <a:rect l="l" t="t" r="r" b="b"/>
              <a:pathLst>
                <a:path w="3931920" h="1371600">
                  <a:moveTo>
                    <a:pt x="0" y="1371600"/>
                  </a:moveTo>
                  <a:lnTo>
                    <a:pt x="3931920" y="1371600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4320" y="2286000"/>
              <a:ext cx="109855" cy="1371600"/>
            </a:xfrm>
            <a:custGeom>
              <a:avLst/>
              <a:gdLst/>
              <a:ahLst/>
              <a:cxnLst/>
              <a:rect l="l" t="t" r="r" b="b"/>
              <a:pathLst>
                <a:path w="109854" h="1371600">
                  <a:moveTo>
                    <a:pt x="109728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109728" y="13716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74320" y="2286000"/>
              <a:ext cx="109855" cy="1371600"/>
            </a:xfrm>
            <a:custGeom>
              <a:avLst/>
              <a:gdLst/>
              <a:ahLst/>
              <a:cxnLst/>
              <a:rect l="l" t="t" r="r" b="b"/>
              <a:pathLst>
                <a:path w="109854" h="1371600">
                  <a:moveTo>
                    <a:pt x="0" y="1371600"/>
                  </a:moveTo>
                  <a:lnTo>
                    <a:pt x="109728" y="13716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41019" y="2387930"/>
            <a:ext cx="105791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A4F6C"/>
                </a:solidFill>
                <a:latin typeface="Calibri"/>
                <a:cs typeface="Calibri"/>
              </a:rPr>
              <a:t>Recording </a:t>
            </a:r>
            <a:r>
              <a:rPr dirty="0" sz="1300" spc="-20" b="1">
                <a:solidFill>
                  <a:srgbClr val="0A4F6C"/>
                </a:solidFill>
                <a:latin typeface="Calibri"/>
                <a:cs typeface="Calibri"/>
              </a:rPr>
              <a:t>Sites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02919" y="2866136"/>
            <a:ext cx="284289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Mihintale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•</a:t>
            </a:r>
            <a:r>
              <a:rPr dirty="0" sz="1050" spc="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Kanadarawa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•</a:t>
            </a:r>
            <a:r>
              <a:rPr dirty="0" sz="1050" spc="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Anuradhapura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New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Town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Residential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roads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(tar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&amp;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concrete)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Urban,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semi-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urban,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and rural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environments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74320" y="374904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39">
                <a:moveTo>
                  <a:pt x="3931920" y="0"/>
                </a:moveTo>
                <a:lnTo>
                  <a:pt x="0" y="0"/>
                </a:lnTo>
                <a:lnTo>
                  <a:pt x="0" y="1005840"/>
                </a:lnTo>
                <a:lnTo>
                  <a:pt x="3931920" y="1005840"/>
                </a:lnTo>
                <a:lnTo>
                  <a:pt x="3931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74320" y="3749040"/>
            <a:ext cx="3931920" cy="1005840"/>
          </a:xfrm>
          <a:prstGeom prst="rect">
            <a:avLst/>
          </a:prstGeom>
          <a:ln w="12700">
            <a:solidFill>
              <a:srgbClr val="1A799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50">
              <a:latin typeface="Times New Roman"/>
              <a:cs typeface="Times New Roman"/>
            </a:endParaRPr>
          </a:p>
          <a:p>
            <a:pPr marL="136525" marR="379095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Ethical</a:t>
            </a:r>
            <a:r>
              <a:rPr dirty="0" sz="1050" spc="-3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Compliance:</a:t>
            </a:r>
            <a:r>
              <a:rPr dirty="0" sz="1050" spc="-3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No</a:t>
            </a:r>
            <a:r>
              <a:rPr dirty="0" sz="1050" spc="-3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identifiable</a:t>
            </a:r>
            <a:r>
              <a:rPr dirty="0" sz="1050" spc="-4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individuals</a:t>
            </a:r>
            <a:r>
              <a:rPr dirty="0" sz="1050" spc="-4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or</a:t>
            </a:r>
            <a:r>
              <a:rPr dirty="0" sz="1050" spc="-2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licence</a:t>
            </a:r>
            <a:r>
              <a:rPr dirty="0" sz="1050" spc="-10">
                <a:solidFill>
                  <a:srgbClr val="0A4F6C"/>
                </a:solidFill>
                <a:latin typeface="Calibri"/>
                <a:cs typeface="Calibri"/>
              </a:rPr>
              <a:t> plates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captured.</a:t>
            </a:r>
            <a:r>
              <a:rPr dirty="0" sz="1050" spc="-4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Recordings</a:t>
            </a:r>
            <a:r>
              <a:rPr dirty="0" sz="1050" spc="-1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in</a:t>
            </a:r>
            <a:r>
              <a:rPr dirty="0" sz="1050" spc="-2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public</a:t>
            </a:r>
            <a:r>
              <a:rPr dirty="0" sz="1050" spc="-2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A4F6C"/>
                </a:solidFill>
                <a:latin typeface="Calibri"/>
                <a:cs typeface="Calibri"/>
              </a:rPr>
              <a:t>areas</a:t>
            </a:r>
            <a:r>
              <a:rPr dirty="0" sz="1050" spc="-4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A4F6C"/>
                </a:solidFill>
                <a:latin typeface="Calibri"/>
                <a:cs typeface="Calibri"/>
              </a:rPr>
              <a:t>only.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325098" y="722348"/>
            <a:ext cx="4592955" cy="2261235"/>
            <a:chOff x="4325098" y="722348"/>
            <a:chExt cx="4592955" cy="2261235"/>
          </a:xfrm>
        </p:grpSpPr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5098" y="722348"/>
              <a:ext cx="4592600" cy="2260908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434839" y="1216151"/>
              <a:ext cx="4434840" cy="1664335"/>
            </a:xfrm>
            <a:custGeom>
              <a:avLst/>
              <a:gdLst/>
              <a:ahLst/>
              <a:cxnLst/>
              <a:rect l="l" t="t" r="r" b="b"/>
              <a:pathLst>
                <a:path w="4434840" h="1664335">
                  <a:moveTo>
                    <a:pt x="0" y="1664208"/>
                  </a:moveTo>
                  <a:lnTo>
                    <a:pt x="4434840" y="1664208"/>
                  </a:lnTo>
                  <a:lnTo>
                    <a:pt x="4434840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434839" y="777239"/>
              <a:ext cx="4434840" cy="2103120"/>
            </a:xfrm>
            <a:custGeom>
              <a:avLst/>
              <a:gdLst/>
              <a:ahLst/>
              <a:cxnLst/>
              <a:rect l="l" t="t" r="r" b="b"/>
              <a:pathLst>
                <a:path w="4434840" h="2103120">
                  <a:moveTo>
                    <a:pt x="0" y="2103119"/>
                  </a:moveTo>
                  <a:lnTo>
                    <a:pt x="4434840" y="2103119"/>
                  </a:lnTo>
                  <a:lnTo>
                    <a:pt x="4434840" y="0"/>
                  </a:lnTo>
                  <a:lnTo>
                    <a:pt x="0" y="0"/>
                  </a:lnTo>
                  <a:lnTo>
                    <a:pt x="0" y="2103119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434840" y="777240"/>
            <a:ext cx="4434840" cy="439420"/>
          </a:xfrm>
          <a:prstGeom prst="rect">
            <a:avLst/>
          </a:prstGeom>
          <a:solidFill>
            <a:srgbClr val="1A799C"/>
          </a:solidFill>
          <a:ln w="12700">
            <a:solidFill>
              <a:srgbClr val="1A799C"/>
            </a:solidFill>
          </a:ln>
        </p:spPr>
        <p:txBody>
          <a:bodyPr wrap="square" lIns="0" tIns="1003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790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Damage</a:t>
            </a:r>
            <a:r>
              <a:rPr dirty="0" sz="13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Captured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773803" y="1760347"/>
            <a:ext cx="83756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1A2D38"/>
                </a:solidFill>
                <a:latin typeface="Calibri"/>
                <a:cs typeface="Calibri"/>
              </a:rPr>
              <a:t>Surface</a:t>
            </a:r>
            <a:r>
              <a:rPr dirty="0" sz="11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2D38"/>
                </a:solidFill>
                <a:latin typeface="Calibri"/>
                <a:cs typeface="Calibri"/>
              </a:rPr>
              <a:t>Cracks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773803" y="2235835"/>
            <a:ext cx="8020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2D38"/>
                </a:solidFill>
                <a:latin typeface="Calibri"/>
                <a:cs typeface="Calibri"/>
              </a:rPr>
              <a:t>Patch</a:t>
            </a:r>
            <a:r>
              <a:rPr dirty="0" sz="11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2D38"/>
                </a:solidFill>
                <a:latin typeface="Calibri"/>
                <a:cs typeface="Calibri"/>
              </a:rPr>
              <a:t>Failures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773803" y="1284477"/>
            <a:ext cx="30003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194560" algn="l"/>
              </a:tabLst>
            </a:pPr>
            <a:r>
              <a:rPr dirty="0" sz="1100" spc="-10">
                <a:solidFill>
                  <a:srgbClr val="1A2D38"/>
                </a:solidFill>
                <a:latin typeface="Calibri"/>
                <a:cs typeface="Calibri"/>
              </a:rPr>
              <a:t>Potholes</a:t>
            </a:r>
            <a:r>
              <a:rPr dirty="0" sz="1100">
                <a:solidFill>
                  <a:srgbClr val="1A2D38"/>
                </a:solidFill>
                <a:latin typeface="Calibri"/>
                <a:cs typeface="Calibri"/>
              </a:rPr>
              <a:t>	Edge</a:t>
            </a:r>
            <a:r>
              <a:rPr dirty="0" sz="11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2D38"/>
                </a:solidFill>
                <a:latin typeface="Calibri"/>
                <a:cs typeface="Calibri"/>
              </a:rPr>
              <a:t>Cracking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968617" y="1760347"/>
            <a:ext cx="13309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1A2D38"/>
                </a:solidFill>
                <a:latin typeface="Calibri"/>
                <a:cs typeface="Calibri"/>
              </a:rPr>
              <a:t>Road</a:t>
            </a:r>
            <a:r>
              <a:rPr dirty="0" sz="110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2D38"/>
                </a:solidFill>
                <a:latin typeface="Calibri"/>
                <a:cs typeface="Calibri"/>
              </a:rPr>
              <a:t>Marking</a:t>
            </a:r>
            <a:r>
              <a:rPr dirty="0" sz="11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2D38"/>
                </a:solidFill>
                <a:latin typeface="Calibri"/>
                <a:cs typeface="Calibri"/>
              </a:rPr>
              <a:t>Removal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297679" y="2935223"/>
            <a:ext cx="4647565" cy="1995805"/>
            <a:chOff x="4297679" y="2935223"/>
            <a:chExt cx="4647565" cy="1995805"/>
          </a:xfrm>
        </p:grpSpPr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7679" y="2935223"/>
              <a:ext cx="4647437" cy="1995677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4434839" y="3017519"/>
              <a:ext cx="4434840" cy="1783080"/>
            </a:xfrm>
            <a:custGeom>
              <a:avLst/>
              <a:gdLst/>
              <a:ahLst/>
              <a:cxnLst/>
              <a:rect l="l" t="t" r="r" b="b"/>
              <a:pathLst>
                <a:path w="4434840" h="1783079">
                  <a:moveTo>
                    <a:pt x="0" y="1783080"/>
                  </a:moveTo>
                  <a:lnTo>
                    <a:pt x="4434840" y="1783080"/>
                  </a:lnTo>
                  <a:lnTo>
                    <a:pt x="4434840" y="0"/>
                  </a:lnTo>
                  <a:lnTo>
                    <a:pt x="0" y="0"/>
                  </a:lnTo>
                  <a:lnTo>
                    <a:pt x="0" y="1783080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434840" y="3017520"/>
            <a:ext cx="4434840" cy="439420"/>
          </a:xfrm>
          <a:prstGeom prst="rect">
            <a:avLst/>
          </a:prstGeom>
          <a:solidFill>
            <a:srgbClr val="1A799C"/>
          </a:solidFill>
          <a:ln w="12700">
            <a:solidFill>
              <a:srgbClr val="1A799C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795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dirty="0" sz="13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Extraction</a:t>
            </a:r>
            <a:r>
              <a:rPr dirty="0" sz="13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434840" y="3456432"/>
            <a:ext cx="4434840" cy="13442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050">
              <a:latin typeface="Times New Roman"/>
              <a:cs typeface="Times New Roman"/>
            </a:endParaRPr>
          </a:p>
          <a:p>
            <a:pPr marL="137795">
              <a:lnSpc>
                <a:spcPct val="100000"/>
              </a:lnSpc>
            </a:pPr>
            <a:r>
              <a:rPr dirty="0" sz="1100" b="1">
                <a:solidFill>
                  <a:srgbClr val="0A4F6C"/>
                </a:solidFill>
                <a:latin typeface="Calibri"/>
                <a:cs typeface="Calibri"/>
              </a:rPr>
              <a:t>Every</a:t>
            </a:r>
            <a:r>
              <a:rPr dirty="0" sz="1100" spc="-25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A4F6C"/>
                </a:solidFill>
                <a:latin typeface="Calibri"/>
                <a:cs typeface="Calibri"/>
              </a:rPr>
              <a:t>10th</a:t>
            </a:r>
            <a:r>
              <a:rPr dirty="0" sz="1100" spc="-10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A4F6C"/>
                </a:solidFill>
                <a:latin typeface="Calibri"/>
                <a:cs typeface="Calibri"/>
              </a:rPr>
              <a:t>frame</a:t>
            </a:r>
            <a:r>
              <a:rPr dirty="0" sz="1100" spc="-15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A4F6C"/>
                </a:solidFill>
                <a:latin typeface="Calibri"/>
                <a:cs typeface="Calibri"/>
              </a:rPr>
              <a:t>extracted</a:t>
            </a:r>
            <a:r>
              <a:rPr dirty="0" sz="1100" spc="225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(uniform</a:t>
            </a:r>
            <a:r>
              <a:rPr dirty="0" sz="1050" spc="-4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sampling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–</a:t>
            </a:r>
            <a:r>
              <a:rPr dirty="0" sz="10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reduces</a:t>
            </a:r>
            <a:r>
              <a:rPr dirty="0" sz="10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redundancy)</a:t>
            </a:r>
            <a:endParaRPr sz="1050">
              <a:latin typeface="Calibri"/>
              <a:cs typeface="Calibri"/>
            </a:endParaRPr>
          </a:p>
          <a:p>
            <a:pPr marL="137795">
              <a:lnSpc>
                <a:spcPct val="100000"/>
              </a:lnSpc>
            </a:pP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Saved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as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JPEG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•</a:t>
            </a:r>
            <a:r>
              <a:rPr dirty="0" sz="10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Original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resolution</a:t>
            </a:r>
            <a:r>
              <a:rPr dirty="0" sz="10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preserved</a:t>
            </a:r>
            <a:endParaRPr sz="1050">
              <a:latin typeface="Calibri"/>
              <a:cs typeface="Calibri"/>
            </a:endParaRPr>
          </a:p>
          <a:p>
            <a:pPr marL="137795">
              <a:lnSpc>
                <a:spcPct val="100000"/>
              </a:lnSpc>
            </a:pPr>
            <a:r>
              <a:rPr dirty="0" sz="1100" b="1">
                <a:solidFill>
                  <a:srgbClr val="0A4F6C"/>
                </a:solidFill>
                <a:latin typeface="Calibri"/>
                <a:cs typeface="Calibri"/>
              </a:rPr>
              <a:t>Annotated</a:t>
            </a:r>
            <a:r>
              <a:rPr dirty="0" sz="1100" spc="-35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A4F6C"/>
                </a:solidFill>
                <a:latin typeface="Calibri"/>
                <a:cs typeface="Calibri"/>
              </a:rPr>
              <a:t>with</a:t>
            </a:r>
            <a:r>
              <a:rPr dirty="0" sz="1100" spc="-20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A4F6C"/>
                </a:solidFill>
                <a:latin typeface="Calibri"/>
                <a:cs typeface="Calibri"/>
              </a:rPr>
              <a:t>LabelImg</a:t>
            </a:r>
            <a:r>
              <a:rPr dirty="0" sz="1100" spc="204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(bounding</a:t>
            </a:r>
            <a:r>
              <a:rPr dirty="0" sz="10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box</a:t>
            </a:r>
            <a:r>
              <a:rPr dirty="0" sz="10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D38"/>
                </a:solidFill>
                <a:latin typeface="Calibri"/>
                <a:cs typeface="Calibri"/>
              </a:rPr>
              <a:t>ground</a:t>
            </a:r>
            <a:r>
              <a:rPr dirty="0" sz="10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2D38"/>
                </a:solidFill>
                <a:latin typeface="Calibri"/>
                <a:cs typeface="Calibri"/>
              </a:rPr>
              <a:t>truth)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4536947" y="1270990"/>
            <a:ext cx="2425065" cy="1236345"/>
            <a:chOff x="4536947" y="1270990"/>
            <a:chExt cx="2425065" cy="1236345"/>
          </a:xfrm>
        </p:grpSpPr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4567" y="1270990"/>
              <a:ext cx="225577" cy="28044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6947" y="1749526"/>
              <a:ext cx="225577" cy="28044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6947" y="2226284"/>
              <a:ext cx="225577" cy="28044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5284" y="1279245"/>
              <a:ext cx="225577" cy="28044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32904" y="1748155"/>
              <a:ext cx="228600" cy="2762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Frame</a:t>
            </a:r>
            <a:r>
              <a:rPr dirty="0" sz="2400" spc="-85"/>
              <a:t> </a:t>
            </a:r>
            <a:r>
              <a:rPr dirty="0" sz="2400"/>
              <a:t>Enhancement</a:t>
            </a:r>
            <a:r>
              <a:rPr dirty="0" sz="2400" spc="-114"/>
              <a:t> </a:t>
            </a:r>
            <a:r>
              <a:rPr dirty="0" sz="2400" spc="-10"/>
              <a:t>Pipeline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8884666" y="20187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7160" y="694944"/>
            <a:ext cx="1785620" cy="2453005"/>
            <a:chOff x="137160" y="694944"/>
            <a:chExt cx="1785620" cy="24530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694944"/>
              <a:ext cx="1785366" cy="245287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74320" y="777240"/>
              <a:ext cx="1572895" cy="2240280"/>
            </a:xfrm>
            <a:custGeom>
              <a:avLst/>
              <a:gdLst/>
              <a:ahLst/>
              <a:cxnLst/>
              <a:rect l="l" t="t" r="r" b="b"/>
              <a:pathLst>
                <a:path w="1572895" h="2240280">
                  <a:moveTo>
                    <a:pt x="1572768" y="0"/>
                  </a:moveTo>
                  <a:lnTo>
                    <a:pt x="0" y="0"/>
                  </a:lnTo>
                  <a:lnTo>
                    <a:pt x="0" y="2240280"/>
                  </a:lnTo>
                  <a:lnTo>
                    <a:pt x="1572768" y="2240280"/>
                  </a:lnTo>
                  <a:lnTo>
                    <a:pt x="1572768" y="0"/>
                  </a:lnTo>
                  <a:close/>
                </a:path>
              </a:pathLst>
            </a:custGeom>
            <a:solidFill>
              <a:srgbClr val="1A79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57200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5" h="36830">
                  <a:moveTo>
                    <a:pt x="1207008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07008" y="36575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7200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5" h="36830">
                  <a:moveTo>
                    <a:pt x="0" y="36575"/>
                  </a:moveTo>
                  <a:lnTo>
                    <a:pt x="1207008" y="36575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67970" y="770890"/>
            <a:ext cx="1585595" cy="2252980"/>
          </a:xfrm>
          <a:prstGeom prst="rect">
            <a:avLst/>
          </a:prstGeom>
          <a:ln w="3175">
            <a:solidFill>
              <a:srgbClr val="1A799C"/>
            </a:solidFill>
          </a:ln>
        </p:spPr>
        <p:txBody>
          <a:bodyPr wrap="square" lIns="0" tIns="958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45"/>
              </a:spcBef>
            </a:pP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Grayscale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300">
              <a:latin typeface="Trebuchet MS"/>
              <a:cs typeface="Trebuchet MS"/>
            </a:endParaRPr>
          </a:p>
          <a:p>
            <a:pPr algn="ctr" marL="72390" marR="66040">
              <a:lnSpc>
                <a:spcPct val="100000"/>
              </a:lnSpc>
            </a:pP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RGB</a:t>
            </a:r>
            <a:r>
              <a:rPr dirty="0" sz="900" spc="-4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→</a:t>
            </a:r>
            <a:r>
              <a:rPr dirty="0" sz="900" spc="-4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single intensity</a:t>
            </a:r>
            <a:r>
              <a:rPr dirty="0" sz="900" spc="-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channel</a:t>
            </a:r>
            <a:r>
              <a:rPr dirty="0" sz="900" spc="50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Gray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=</a:t>
            </a:r>
            <a:r>
              <a:rPr dirty="0" sz="900" spc="1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0.299R</a:t>
            </a:r>
            <a:r>
              <a:rPr dirty="0" sz="900" spc="-3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+</a:t>
            </a:r>
            <a:r>
              <a:rPr dirty="0" sz="900" spc="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0.587G</a:t>
            </a:r>
            <a:r>
              <a:rPr dirty="0" sz="900" spc="-3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DCEFF8"/>
                </a:solidFill>
                <a:latin typeface="Calibri"/>
                <a:cs typeface="Calibri"/>
              </a:rPr>
              <a:t>+</a:t>
            </a:r>
            <a:r>
              <a:rPr dirty="0" sz="900" spc="50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0.114B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856232" y="694944"/>
            <a:ext cx="1785620" cy="2453005"/>
            <a:chOff x="1856232" y="694944"/>
            <a:chExt cx="1785620" cy="2453005"/>
          </a:xfrm>
        </p:grpSpPr>
        <p:sp>
          <p:nvSpPr>
            <p:cNvPr id="11" name="object 11" descr=""/>
            <p:cNvSpPr/>
            <p:nvPr/>
          </p:nvSpPr>
          <p:spPr>
            <a:xfrm>
              <a:off x="1874520" y="1783080"/>
              <a:ext cx="91440" cy="36830"/>
            </a:xfrm>
            <a:custGeom>
              <a:avLst/>
              <a:gdLst/>
              <a:ahLst/>
              <a:cxnLst/>
              <a:rect l="l" t="t" r="r" b="b"/>
              <a:pathLst>
                <a:path w="91439" h="36830">
                  <a:moveTo>
                    <a:pt x="91439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39" y="36575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874520" y="1783080"/>
              <a:ext cx="91440" cy="36830"/>
            </a:xfrm>
            <a:custGeom>
              <a:avLst/>
              <a:gdLst/>
              <a:ahLst/>
              <a:cxnLst/>
              <a:rect l="l" t="t" r="r" b="b"/>
              <a:pathLst>
                <a:path w="91439" h="36830">
                  <a:moveTo>
                    <a:pt x="0" y="36575"/>
                  </a:moveTo>
                  <a:lnTo>
                    <a:pt x="91439" y="36575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6232" y="694944"/>
              <a:ext cx="1785366" cy="245287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993392" y="777240"/>
              <a:ext cx="1572895" cy="2240280"/>
            </a:xfrm>
            <a:custGeom>
              <a:avLst/>
              <a:gdLst/>
              <a:ahLst/>
              <a:cxnLst/>
              <a:rect l="l" t="t" r="r" b="b"/>
              <a:pathLst>
                <a:path w="1572895" h="2240280">
                  <a:moveTo>
                    <a:pt x="1572768" y="0"/>
                  </a:moveTo>
                  <a:lnTo>
                    <a:pt x="0" y="0"/>
                  </a:lnTo>
                  <a:lnTo>
                    <a:pt x="0" y="2240280"/>
                  </a:lnTo>
                  <a:lnTo>
                    <a:pt x="1572768" y="2240280"/>
                  </a:lnTo>
                  <a:lnTo>
                    <a:pt x="1572768" y="0"/>
                  </a:lnTo>
                  <a:close/>
                </a:path>
              </a:pathLst>
            </a:custGeom>
            <a:solidFill>
              <a:srgbClr val="0A4F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176272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5" h="36830">
                  <a:moveTo>
                    <a:pt x="1207008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07008" y="36575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76272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5" h="36830">
                  <a:moveTo>
                    <a:pt x="0" y="36575"/>
                  </a:moveTo>
                  <a:lnTo>
                    <a:pt x="1207008" y="36575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987042" y="770890"/>
            <a:ext cx="1585595" cy="2252980"/>
          </a:xfrm>
          <a:prstGeom prst="rect">
            <a:avLst/>
          </a:prstGeom>
          <a:ln w="3175">
            <a:solidFill>
              <a:srgbClr val="0A4F6C"/>
            </a:solidFill>
          </a:ln>
        </p:spPr>
        <p:txBody>
          <a:bodyPr wrap="square" lIns="0" tIns="958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45"/>
              </a:spcBef>
            </a:pP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Denoise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300">
              <a:latin typeface="Trebuchet MS"/>
              <a:cs typeface="Trebuchet MS"/>
            </a:endParaRPr>
          </a:p>
          <a:p>
            <a:pPr algn="ctr" marL="67945" marR="60325">
              <a:lnSpc>
                <a:spcPct val="100000"/>
              </a:lnSpc>
            </a:pP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Median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filter (salt</a:t>
            </a:r>
            <a:r>
              <a:rPr dirty="0" sz="900" spc="-4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&amp;</a:t>
            </a:r>
            <a:r>
              <a:rPr dirty="0" sz="900" spc="-2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pepper)</a:t>
            </a:r>
            <a:r>
              <a:rPr dirty="0" sz="900" spc="50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Gaussian</a:t>
            </a:r>
            <a:r>
              <a:rPr dirty="0" sz="900" spc="-3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filter</a:t>
            </a:r>
            <a:r>
              <a:rPr dirty="0" sz="900" spc="-3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(Gaussian</a:t>
            </a:r>
            <a:r>
              <a:rPr dirty="0" sz="900" spc="-3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noise)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575303" y="694944"/>
            <a:ext cx="1785620" cy="2453005"/>
            <a:chOff x="3575303" y="694944"/>
            <a:chExt cx="1785620" cy="2453005"/>
          </a:xfrm>
        </p:grpSpPr>
        <p:sp>
          <p:nvSpPr>
            <p:cNvPr id="19" name="object 19" descr=""/>
            <p:cNvSpPr/>
            <p:nvPr/>
          </p:nvSpPr>
          <p:spPr>
            <a:xfrm>
              <a:off x="3593591" y="1783080"/>
              <a:ext cx="91440" cy="36830"/>
            </a:xfrm>
            <a:custGeom>
              <a:avLst/>
              <a:gdLst/>
              <a:ahLst/>
              <a:cxnLst/>
              <a:rect l="l" t="t" r="r" b="b"/>
              <a:pathLst>
                <a:path w="91439" h="36830">
                  <a:moveTo>
                    <a:pt x="91439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39" y="36575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593591" y="1783080"/>
              <a:ext cx="91440" cy="36830"/>
            </a:xfrm>
            <a:custGeom>
              <a:avLst/>
              <a:gdLst/>
              <a:ahLst/>
              <a:cxnLst/>
              <a:rect l="l" t="t" r="r" b="b"/>
              <a:pathLst>
                <a:path w="91439" h="36830">
                  <a:moveTo>
                    <a:pt x="0" y="36575"/>
                  </a:moveTo>
                  <a:lnTo>
                    <a:pt x="91439" y="36575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5303" y="694944"/>
              <a:ext cx="1785366" cy="245287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712463" y="777240"/>
              <a:ext cx="1572895" cy="2240280"/>
            </a:xfrm>
            <a:custGeom>
              <a:avLst/>
              <a:gdLst/>
              <a:ahLst/>
              <a:cxnLst/>
              <a:rect l="l" t="t" r="r" b="b"/>
              <a:pathLst>
                <a:path w="1572895" h="2240280">
                  <a:moveTo>
                    <a:pt x="1572767" y="0"/>
                  </a:moveTo>
                  <a:lnTo>
                    <a:pt x="0" y="0"/>
                  </a:lnTo>
                  <a:lnTo>
                    <a:pt x="0" y="2240280"/>
                  </a:lnTo>
                  <a:lnTo>
                    <a:pt x="1572767" y="2240280"/>
                  </a:lnTo>
                  <a:lnTo>
                    <a:pt x="1572767" y="0"/>
                  </a:lnTo>
                  <a:close/>
                </a:path>
              </a:pathLst>
            </a:custGeom>
            <a:solidFill>
              <a:srgbClr val="1A79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95343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5" h="36830">
                  <a:moveTo>
                    <a:pt x="1207008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07008" y="36575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895343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5" h="36830">
                  <a:moveTo>
                    <a:pt x="0" y="36575"/>
                  </a:moveTo>
                  <a:lnTo>
                    <a:pt x="1207008" y="36575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706114" y="770890"/>
            <a:ext cx="1585595" cy="2252980"/>
          </a:xfrm>
          <a:prstGeom prst="rect">
            <a:avLst/>
          </a:prstGeom>
          <a:ln w="3175">
            <a:solidFill>
              <a:srgbClr val="1A799C"/>
            </a:solidFill>
          </a:ln>
        </p:spPr>
        <p:txBody>
          <a:bodyPr wrap="square" lIns="0" tIns="9588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55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1345"/>
              </a:spcBef>
            </a:pP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CLAHE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300">
              <a:latin typeface="Trebuchet MS"/>
              <a:cs typeface="Trebuchet MS"/>
            </a:endParaRPr>
          </a:p>
          <a:p>
            <a:pPr algn="ctr" marL="137160" marR="130175">
              <a:lnSpc>
                <a:spcPct val="100000"/>
              </a:lnSpc>
            </a:pP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Local</a:t>
            </a:r>
            <a:r>
              <a:rPr dirty="0" sz="900" spc="-3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contrast</a:t>
            </a:r>
            <a:r>
              <a:rPr dirty="0" sz="900" spc="-2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enhancement</a:t>
            </a:r>
            <a:r>
              <a:rPr dirty="0" sz="900" spc="50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Clip</a:t>
            </a:r>
            <a:r>
              <a:rPr dirty="0" sz="900" spc="-2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limit: 2.0,</a:t>
            </a:r>
            <a:r>
              <a:rPr dirty="0" sz="900" spc="-4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Tile: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DCEFF8"/>
                </a:solidFill>
                <a:latin typeface="Calibri"/>
                <a:cs typeface="Calibri"/>
              </a:rPr>
              <a:t>8×8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294376" y="694944"/>
            <a:ext cx="1785620" cy="2453005"/>
            <a:chOff x="5294376" y="694944"/>
            <a:chExt cx="1785620" cy="2453005"/>
          </a:xfrm>
        </p:grpSpPr>
        <p:sp>
          <p:nvSpPr>
            <p:cNvPr id="27" name="object 27" descr=""/>
            <p:cNvSpPr/>
            <p:nvPr/>
          </p:nvSpPr>
          <p:spPr>
            <a:xfrm>
              <a:off x="5312664" y="1783080"/>
              <a:ext cx="91440" cy="36830"/>
            </a:xfrm>
            <a:custGeom>
              <a:avLst/>
              <a:gdLst/>
              <a:ahLst/>
              <a:cxnLst/>
              <a:rect l="l" t="t" r="r" b="b"/>
              <a:pathLst>
                <a:path w="91439" h="36830">
                  <a:moveTo>
                    <a:pt x="91439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39" y="36575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312664" y="1783080"/>
              <a:ext cx="91440" cy="36830"/>
            </a:xfrm>
            <a:custGeom>
              <a:avLst/>
              <a:gdLst/>
              <a:ahLst/>
              <a:cxnLst/>
              <a:rect l="l" t="t" r="r" b="b"/>
              <a:pathLst>
                <a:path w="91439" h="36830">
                  <a:moveTo>
                    <a:pt x="0" y="36575"/>
                  </a:moveTo>
                  <a:lnTo>
                    <a:pt x="91439" y="36575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4376" y="694944"/>
              <a:ext cx="1785366" cy="245287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5431536" y="777240"/>
              <a:ext cx="1572895" cy="2240280"/>
            </a:xfrm>
            <a:custGeom>
              <a:avLst/>
              <a:gdLst/>
              <a:ahLst/>
              <a:cxnLst/>
              <a:rect l="l" t="t" r="r" b="b"/>
              <a:pathLst>
                <a:path w="1572895" h="2240280">
                  <a:moveTo>
                    <a:pt x="1572767" y="0"/>
                  </a:moveTo>
                  <a:lnTo>
                    <a:pt x="0" y="0"/>
                  </a:lnTo>
                  <a:lnTo>
                    <a:pt x="0" y="2240280"/>
                  </a:lnTo>
                  <a:lnTo>
                    <a:pt x="1572767" y="2240280"/>
                  </a:lnTo>
                  <a:lnTo>
                    <a:pt x="1572767" y="0"/>
                  </a:lnTo>
                  <a:close/>
                </a:path>
              </a:pathLst>
            </a:custGeom>
            <a:solidFill>
              <a:srgbClr val="0A4F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614416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4" h="36830">
                  <a:moveTo>
                    <a:pt x="1207008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07008" y="36575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614416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4" h="36830">
                  <a:moveTo>
                    <a:pt x="0" y="36575"/>
                  </a:moveTo>
                  <a:lnTo>
                    <a:pt x="1207008" y="36575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425185" y="770890"/>
            <a:ext cx="1585595" cy="2252980"/>
          </a:xfrm>
          <a:prstGeom prst="rect">
            <a:avLst/>
          </a:prstGeom>
          <a:ln w="3175">
            <a:solidFill>
              <a:srgbClr val="0A4F6C"/>
            </a:solidFill>
          </a:ln>
        </p:spPr>
        <p:txBody>
          <a:bodyPr wrap="square" lIns="0" tIns="9588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55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1345"/>
              </a:spcBef>
            </a:pP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Illumination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300">
              <a:latin typeface="Trebuchet MS"/>
              <a:cs typeface="Trebuchet MS"/>
            </a:endParaRPr>
          </a:p>
          <a:p>
            <a:pPr algn="ctr" marL="182880" marR="175260">
              <a:lnSpc>
                <a:spcPct val="100000"/>
              </a:lnSpc>
            </a:pP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Background</a:t>
            </a:r>
            <a:r>
              <a:rPr dirty="0" sz="900" spc="-5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normalization</a:t>
            </a:r>
            <a:r>
              <a:rPr dirty="0" sz="900" spc="50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Corrected</a:t>
            </a:r>
            <a:r>
              <a:rPr dirty="0" sz="900" spc="-2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=</a:t>
            </a:r>
            <a:r>
              <a:rPr dirty="0" sz="900" spc="-2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Image</a:t>
            </a:r>
            <a:r>
              <a:rPr dirty="0" sz="900" spc="-2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DCEFF8"/>
                </a:solidFill>
                <a:latin typeface="Calibri"/>
                <a:cs typeface="Calibri"/>
              </a:rPr>
              <a:t>/</a:t>
            </a:r>
            <a:r>
              <a:rPr dirty="0" sz="900" spc="50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Background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013447" y="694944"/>
            <a:ext cx="1785620" cy="2453005"/>
            <a:chOff x="7013447" y="694944"/>
            <a:chExt cx="1785620" cy="2453005"/>
          </a:xfrm>
        </p:grpSpPr>
        <p:sp>
          <p:nvSpPr>
            <p:cNvPr id="35" name="object 35" descr=""/>
            <p:cNvSpPr/>
            <p:nvPr/>
          </p:nvSpPr>
          <p:spPr>
            <a:xfrm>
              <a:off x="7031735" y="1783080"/>
              <a:ext cx="91440" cy="36830"/>
            </a:xfrm>
            <a:custGeom>
              <a:avLst/>
              <a:gdLst/>
              <a:ahLst/>
              <a:cxnLst/>
              <a:rect l="l" t="t" r="r" b="b"/>
              <a:pathLst>
                <a:path w="91440" h="36830">
                  <a:moveTo>
                    <a:pt x="9144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40" y="36575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031735" y="1783080"/>
              <a:ext cx="91440" cy="36830"/>
            </a:xfrm>
            <a:custGeom>
              <a:avLst/>
              <a:gdLst/>
              <a:ahLst/>
              <a:cxnLst/>
              <a:rect l="l" t="t" r="r" b="b"/>
              <a:pathLst>
                <a:path w="91440" h="36830">
                  <a:moveTo>
                    <a:pt x="0" y="36575"/>
                  </a:moveTo>
                  <a:lnTo>
                    <a:pt x="91440" y="36575"/>
                  </a:lnTo>
                  <a:lnTo>
                    <a:pt x="9144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3447" y="694944"/>
              <a:ext cx="1785366" cy="2452878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7150607" y="777240"/>
              <a:ext cx="1572895" cy="2240280"/>
            </a:xfrm>
            <a:custGeom>
              <a:avLst/>
              <a:gdLst/>
              <a:ahLst/>
              <a:cxnLst/>
              <a:rect l="l" t="t" r="r" b="b"/>
              <a:pathLst>
                <a:path w="1572895" h="2240280">
                  <a:moveTo>
                    <a:pt x="1572768" y="0"/>
                  </a:moveTo>
                  <a:lnTo>
                    <a:pt x="0" y="0"/>
                  </a:lnTo>
                  <a:lnTo>
                    <a:pt x="0" y="2240280"/>
                  </a:lnTo>
                  <a:lnTo>
                    <a:pt x="1572768" y="2240280"/>
                  </a:lnTo>
                  <a:lnTo>
                    <a:pt x="157276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333487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4" h="36830">
                  <a:moveTo>
                    <a:pt x="1207007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07007" y="36575"/>
                  </a:lnTo>
                  <a:lnTo>
                    <a:pt x="1207007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333487" y="1691640"/>
              <a:ext cx="1207135" cy="36830"/>
            </a:xfrm>
            <a:custGeom>
              <a:avLst/>
              <a:gdLst/>
              <a:ahLst/>
              <a:cxnLst/>
              <a:rect l="l" t="t" r="r" b="b"/>
              <a:pathLst>
                <a:path w="1207134" h="36830">
                  <a:moveTo>
                    <a:pt x="0" y="36575"/>
                  </a:moveTo>
                  <a:lnTo>
                    <a:pt x="1207007" y="36575"/>
                  </a:lnTo>
                  <a:lnTo>
                    <a:pt x="1207007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7144257" y="770890"/>
            <a:ext cx="1585595" cy="2252980"/>
          </a:xfrm>
          <a:prstGeom prst="rect">
            <a:avLst/>
          </a:prstGeom>
          <a:ln w="3175">
            <a:solidFill>
              <a:srgbClr val="E89F1F"/>
            </a:solidFill>
          </a:ln>
        </p:spPr>
        <p:txBody>
          <a:bodyPr wrap="square" lIns="0" tIns="9588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755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45"/>
              </a:spcBef>
            </a:pP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Sharpen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300">
              <a:latin typeface="Trebuchet MS"/>
              <a:cs typeface="Trebuchet MS"/>
            </a:endParaRPr>
          </a:p>
          <a:p>
            <a:pPr algn="ctr" marL="302260" marR="292100" indent="-1270">
              <a:lnSpc>
                <a:spcPct val="100000"/>
              </a:lnSpc>
            </a:pP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Unsharp</a:t>
            </a:r>
            <a:r>
              <a:rPr dirty="0" sz="900" spc="-3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masking</a:t>
            </a:r>
            <a:r>
              <a:rPr dirty="0" sz="900" spc="50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2.0×Image</a:t>
            </a:r>
            <a:r>
              <a:rPr dirty="0" sz="900" spc="-30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CEFF8"/>
                </a:solidFill>
                <a:latin typeface="Calibri"/>
                <a:cs typeface="Calibri"/>
              </a:rPr>
              <a:t>−</a:t>
            </a:r>
            <a:r>
              <a:rPr dirty="0" sz="900" spc="-5">
                <a:solidFill>
                  <a:srgbClr val="DCEFF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DCEFF8"/>
                </a:solidFill>
                <a:latin typeface="Calibri"/>
                <a:cs typeface="Calibri"/>
              </a:rPr>
              <a:t>1.0×Blur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37160" y="3118087"/>
            <a:ext cx="8808085" cy="1904364"/>
            <a:chOff x="137160" y="3118087"/>
            <a:chExt cx="8808085" cy="1904364"/>
          </a:xfrm>
        </p:grpSpPr>
        <p:pic>
          <p:nvPicPr>
            <p:cNvPr id="43" name="object 4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" y="3118087"/>
              <a:ext cx="8807958" cy="1904238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74320" y="3200400"/>
              <a:ext cx="8595360" cy="1691639"/>
            </a:xfrm>
            <a:custGeom>
              <a:avLst/>
              <a:gdLst/>
              <a:ahLst/>
              <a:cxnLst/>
              <a:rect l="l" t="t" r="r" b="b"/>
              <a:pathLst>
                <a:path w="8595360" h="1691639">
                  <a:moveTo>
                    <a:pt x="8595360" y="0"/>
                  </a:moveTo>
                  <a:lnTo>
                    <a:pt x="0" y="0"/>
                  </a:lnTo>
                  <a:lnTo>
                    <a:pt x="0" y="1691639"/>
                  </a:lnTo>
                  <a:lnTo>
                    <a:pt x="8595360" y="16916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74320" y="3200400"/>
              <a:ext cx="8595360" cy="1691639"/>
            </a:xfrm>
            <a:custGeom>
              <a:avLst/>
              <a:gdLst/>
              <a:ahLst/>
              <a:cxnLst/>
              <a:rect l="l" t="t" r="r" b="b"/>
              <a:pathLst>
                <a:path w="8595360" h="1691639">
                  <a:moveTo>
                    <a:pt x="0" y="1691639"/>
                  </a:moveTo>
                  <a:lnTo>
                    <a:pt x="8595360" y="16916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2700">
              <a:solidFill>
                <a:srgbClr val="E8F4F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353059" y="3289172"/>
            <a:ext cx="29705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A4F6C"/>
                </a:solidFill>
                <a:latin typeface="Calibri"/>
                <a:cs typeface="Calibri"/>
              </a:rPr>
              <a:t>Quantitative</a:t>
            </a:r>
            <a:r>
              <a:rPr dirty="0" sz="1300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A4F6C"/>
                </a:solidFill>
                <a:latin typeface="Calibri"/>
                <a:cs typeface="Calibri"/>
              </a:rPr>
              <a:t>Improvement</a:t>
            </a:r>
            <a:r>
              <a:rPr dirty="0" sz="1300" spc="5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A4F6C"/>
                </a:solidFill>
                <a:latin typeface="Calibri"/>
                <a:cs typeface="Calibri"/>
              </a:rPr>
              <a:t>(Sample</a:t>
            </a:r>
            <a:r>
              <a:rPr dirty="0" sz="1300" spc="-30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A4F6C"/>
                </a:solidFill>
                <a:latin typeface="Calibri"/>
                <a:cs typeface="Calibri"/>
              </a:rPr>
              <a:t>Frame)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47" name="object 47" descr=""/>
          <p:cNvGraphicFramePr>
            <a:graphicFrameLocks noGrp="1"/>
          </p:cNvGraphicFramePr>
          <p:nvPr/>
        </p:nvGraphicFramePr>
        <p:xfrm>
          <a:off x="360679" y="3725671"/>
          <a:ext cx="8453120" cy="107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1689"/>
                <a:gridCol w="2091689"/>
                <a:gridCol w="2091689"/>
                <a:gridCol w="2091689"/>
              </a:tblGrid>
              <a:tr h="269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DC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Original</a:t>
                      </a:r>
                      <a:r>
                        <a:rPr dirty="0" sz="1100" spc="-4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Frame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DCEF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Enhanced</a:t>
                      </a:r>
                      <a:r>
                        <a:rPr dirty="0" sz="1100" spc="-3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Frame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DC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Improvement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DCEFF8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Intensity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Range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120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198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 b="1">
                          <a:solidFill>
                            <a:srgbClr val="1A8B4E"/>
                          </a:solidFill>
                          <a:latin typeface="Calibri"/>
                          <a:cs typeface="Calibri"/>
                        </a:rPr>
                        <a:t>+65%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Laplacian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Variance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(Sharpness)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85.3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162.7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 b="1">
                          <a:solidFill>
                            <a:srgbClr val="1A8B4E"/>
                          </a:solidFill>
                          <a:latin typeface="Calibri"/>
                          <a:cs typeface="Calibri"/>
                        </a:rPr>
                        <a:t>+91%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Mean</a:t>
                      </a:r>
                      <a:r>
                        <a:rPr dirty="0" sz="10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Intensity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92.4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110.6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 b="1">
                          <a:solidFill>
                            <a:srgbClr val="1A8B4E"/>
                          </a:solidFill>
                          <a:latin typeface="Calibri"/>
                          <a:cs typeface="Calibri"/>
                        </a:rPr>
                        <a:t>+20%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Segmentation</a:t>
            </a:r>
            <a:r>
              <a:rPr dirty="0" sz="2400" spc="-90"/>
              <a:t> </a:t>
            </a:r>
            <a:r>
              <a:rPr dirty="0" sz="2400" spc="-10"/>
              <a:t>Pipeline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8884666" y="20187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74320" y="1362455"/>
            <a:ext cx="3840479" cy="457200"/>
          </a:xfrm>
          <a:custGeom>
            <a:avLst/>
            <a:gdLst/>
            <a:ahLst/>
            <a:cxnLst/>
            <a:rect l="l" t="t" r="r" b="b"/>
            <a:pathLst>
              <a:path w="3840479" h="457200">
                <a:moveTo>
                  <a:pt x="3840479" y="0"/>
                </a:moveTo>
                <a:lnTo>
                  <a:pt x="0" y="0"/>
                </a:lnTo>
                <a:lnTo>
                  <a:pt x="0" y="457200"/>
                </a:lnTo>
                <a:lnTo>
                  <a:pt x="3840479" y="457200"/>
                </a:lnTo>
                <a:lnTo>
                  <a:pt x="3840479" y="0"/>
                </a:lnTo>
                <a:close/>
              </a:path>
            </a:pathLst>
          </a:custGeom>
          <a:solidFill>
            <a:srgbClr val="3C6B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74320" y="1975104"/>
            <a:ext cx="3840479" cy="457200"/>
          </a:xfrm>
          <a:custGeom>
            <a:avLst/>
            <a:gdLst/>
            <a:ahLst/>
            <a:cxnLst/>
            <a:rect l="l" t="t" r="r" b="b"/>
            <a:pathLst>
              <a:path w="3840479" h="457200">
                <a:moveTo>
                  <a:pt x="3840479" y="0"/>
                </a:moveTo>
                <a:lnTo>
                  <a:pt x="0" y="0"/>
                </a:lnTo>
                <a:lnTo>
                  <a:pt x="0" y="457200"/>
                </a:lnTo>
                <a:lnTo>
                  <a:pt x="3840479" y="457200"/>
                </a:lnTo>
                <a:lnTo>
                  <a:pt x="3840479" y="0"/>
                </a:lnTo>
                <a:close/>
              </a:path>
            </a:pathLst>
          </a:custGeom>
          <a:solidFill>
            <a:srgbClr val="0A4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4320" y="2587751"/>
            <a:ext cx="3840479" cy="457200"/>
          </a:xfrm>
          <a:custGeom>
            <a:avLst/>
            <a:gdLst/>
            <a:ahLst/>
            <a:cxnLst/>
            <a:rect l="l" t="t" r="r" b="b"/>
            <a:pathLst>
              <a:path w="3840479" h="457200">
                <a:moveTo>
                  <a:pt x="3840479" y="0"/>
                </a:moveTo>
                <a:lnTo>
                  <a:pt x="0" y="0"/>
                </a:lnTo>
                <a:lnTo>
                  <a:pt x="0" y="457200"/>
                </a:lnTo>
                <a:lnTo>
                  <a:pt x="3840479" y="457200"/>
                </a:lnTo>
                <a:lnTo>
                  <a:pt x="3840479" y="0"/>
                </a:lnTo>
                <a:close/>
              </a:path>
            </a:pathLst>
          </a:custGeom>
          <a:solidFill>
            <a:srgbClr val="0A4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4320" y="3200400"/>
            <a:ext cx="3840479" cy="457200"/>
          </a:xfrm>
          <a:custGeom>
            <a:avLst/>
            <a:gdLst/>
            <a:ahLst/>
            <a:cxnLst/>
            <a:rect l="l" t="t" r="r" b="b"/>
            <a:pathLst>
              <a:path w="3840479" h="457200">
                <a:moveTo>
                  <a:pt x="3840479" y="0"/>
                </a:moveTo>
                <a:lnTo>
                  <a:pt x="0" y="0"/>
                </a:lnTo>
                <a:lnTo>
                  <a:pt x="0" y="457200"/>
                </a:lnTo>
                <a:lnTo>
                  <a:pt x="3840479" y="457200"/>
                </a:lnTo>
                <a:lnTo>
                  <a:pt x="3840479" y="0"/>
                </a:lnTo>
                <a:close/>
              </a:path>
            </a:pathLst>
          </a:custGeom>
          <a:solidFill>
            <a:srgbClr val="3C6B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74320" y="3813047"/>
            <a:ext cx="3840479" cy="457200"/>
          </a:xfrm>
          <a:custGeom>
            <a:avLst/>
            <a:gdLst/>
            <a:ahLst/>
            <a:cxnLst/>
            <a:rect l="l" t="t" r="r" b="b"/>
            <a:pathLst>
              <a:path w="3840479" h="457200">
                <a:moveTo>
                  <a:pt x="3840479" y="0"/>
                </a:moveTo>
                <a:lnTo>
                  <a:pt x="0" y="0"/>
                </a:lnTo>
                <a:lnTo>
                  <a:pt x="0" y="457199"/>
                </a:lnTo>
                <a:lnTo>
                  <a:pt x="3840479" y="457199"/>
                </a:lnTo>
                <a:lnTo>
                  <a:pt x="3840479" y="0"/>
                </a:lnTo>
                <a:close/>
              </a:path>
            </a:pathLst>
          </a:custGeom>
          <a:solidFill>
            <a:srgbClr val="1A799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37160" y="667562"/>
            <a:ext cx="4053204" cy="4345940"/>
            <a:chOff x="137160" y="667562"/>
            <a:chExt cx="4053204" cy="434594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667562"/>
              <a:ext cx="4053078" cy="66974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280210"/>
              <a:ext cx="4053078" cy="66974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1892858"/>
              <a:ext cx="4053078" cy="66974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505506"/>
              <a:ext cx="4053078" cy="66974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118154"/>
              <a:ext cx="4053078" cy="66974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730751"/>
              <a:ext cx="4053078" cy="66974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4343400"/>
              <a:ext cx="4053078" cy="669747"/>
            </a:xfrm>
            <a:prstGeom prst="rect">
              <a:avLst/>
            </a:prstGeom>
          </p:spPr>
        </p:pic>
      </p:grpSp>
      <p:sp>
        <p:nvSpPr>
          <p:cNvPr id="17" name="object 17" descr=""/>
          <p:cNvSpPr/>
          <p:nvPr/>
        </p:nvSpPr>
        <p:spPr>
          <a:xfrm>
            <a:off x="274320" y="4425696"/>
            <a:ext cx="3840479" cy="457200"/>
          </a:xfrm>
          <a:custGeom>
            <a:avLst/>
            <a:gdLst/>
            <a:ahLst/>
            <a:cxnLst/>
            <a:rect l="l" t="t" r="r" b="b"/>
            <a:pathLst>
              <a:path w="3840479" h="457200">
                <a:moveTo>
                  <a:pt x="3840479" y="0"/>
                </a:moveTo>
                <a:lnTo>
                  <a:pt x="0" y="0"/>
                </a:lnTo>
                <a:lnTo>
                  <a:pt x="0" y="457199"/>
                </a:lnTo>
                <a:lnTo>
                  <a:pt x="3840479" y="457199"/>
                </a:lnTo>
                <a:lnTo>
                  <a:pt x="3840479" y="0"/>
                </a:lnTo>
                <a:close/>
              </a:path>
            </a:pathLst>
          </a:custGeom>
          <a:solidFill>
            <a:srgbClr val="E89F1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267970" y="743458"/>
          <a:ext cx="3929379" cy="4141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3650"/>
                <a:gridCol w="2589529"/>
              </a:tblGrid>
              <a:tr h="462915">
                <a:tc gridSpan="2"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Enhanced</a:t>
                      </a:r>
                      <a:r>
                        <a:rPr dirty="0" sz="11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Image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8430">
                    <a:lnB w="12700">
                      <a:solidFill>
                        <a:srgbClr val="1A799C"/>
                      </a:solidFill>
                      <a:prstDash val="solid"/>
                    </a:lnB>
                    <a:solidFill>
                      <a:srgbClr val="1A799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5A899A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3C6B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5A899A"/>
                      </a:solidFill>
                      <a:prstDash val="solid"/>
                    </a:lnL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3C6B79"/>
                      </a:solidFill>
                      <a:prstDash val="solid"/>
                    </a:lnB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Gaussian</a:t>
                      </a:r>
                      <a:r>
                        <a:rPr dirty="0" sz="115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Blur</a:t>
                      </a:r>
                      <a:r>
                        <a:rPr dirty="0" sz="115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(5×5)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2715">
                    <a:lnR w="3175">
                      <a:solidFill>
                        <a:srgbClr val="3C6B79"/>
                      </a:solidFill>
                      <a:prstDash val="solid"/>
                    </a:lnR>
                    <a:lnT w="12700">
                      <a:solidFill>
                        <a:srgbClr val="3C6B79"/>
                      </a:solidFill>
                      <a:prstDash val="solid"/>
                    </a:lnT>
                    <a:lnB w="12700">
                      <a:solidFill>
                        <a:srgbClr val="3C6B7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5A899A"/>
                      </a:solidFill>
                      <a:prstDash val="solid"/>
                    </a:lnR>
                    <a:lnT w="12700">
                      <a:solidFill>
                        <a:srgbClr val="3C6B79"/>
                      </a:solidFill>
                      <a:prstDash val="solid"/>
                    </a:lnT>
                    <a:lnB w="12700">
                      <a:solidFill>
                        <a:srgbClr val="0A4F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5A899A"/>
                      </a:solidFill>
                      <a:prstDash val="solid"/>
                    </a:lnL>
                    <a:lnT w="12700">
                      <a:solidFill>
                        <a:srgbClr val="3C6B79"/>
                      </a:solidFill>
                      <a:prstDash val="solid"/>
                    </a:lnT>
                    <a:lnB w="12700">
                      <a:solidFill>
                        <a:srgbClr val="0A4F6C"/>
                      </a:solidFill>
                      <a:prstDash val="solid"/>
                    </a:lnB>
                  </a:tcPr>
                </a:tc>
              </a:tr>
              <a:tr h="456565">
                <a:tc gridSpan="2">
                  <a:txBody>
                    <a:bodyPr/>
                    <a:lstStyle/>
                    <a:p>
                      <a:pPr marL="10731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Black-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Hat</a:t>
                      </a:r>
                      <a:r>
                        <a:rPr dirty="0" sz="11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Transform</a:t>
                      </a:r>
                      <a:r>
                        <a:rPr dirty="0" sz="11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(25×25)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2715">
                    <a:lnR w="3175">
                      <a:solidFill>
                        <a:srgbClr val="0A4F6C"/>
                      </a:solidFill>
                      <a:prstDash val="solid"/>
                    </a:lnR>
                    <a:lnT w="12700">
                      <a:solidFill>
                        <a:srgbClr val="0A4F6C"/>
                      </a:solidFill>
                      <a:prstDash val="solid"/>
                    </a:lnT>
                    <a:lnB w="12700">
                      <a:solidFill>
                        <a:srgbClr val="0A4F6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5A899A"/>
                      </a:solidFill>
                      <a:prstDash val="solid"/>
                    </a:lnR>
                    <a:lnT w="12700">
                      <a:solidFill>
                        <a:srgbClr val="0A4F6C"/>
                      </a:solidFill>
                      <a:prstDash val="solid"/>
                    </a:lnT>
                    <a:lnB w="12700">
                      <a:solidFill>
                        <a:srgbClr val="0A4F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5A899A"/>
                      </a:solidFill>
                      <a:prstDash val="solid"/>
                    </a:lnL>
                    <a:lnT w="12700">
                      <a:solidFill>
                        <a:srgbClr val="0A4F6C"/>
                      </a:solidFill>
                      <a:prstDash val="solid"/>
                    </a:lnT>
                    <a:lnB w="12700">
                      <a:solidFill>
                        <a:srgbClr val="0A4F6C"/>
                      </a:solidFill>
                      <a:prstDash val="solid"/>
                    </a:lnB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 marL="106108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Binary</a:t>
                      </a:r>
                      <a:r>
                        <a:rPr dirty="0" sz="115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Threshold</a:t>
                      </a:r>
                      <a:r>
                        <a:rPr dirty="0" sz="115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(value</a:t>
                      </a:r>
                      <a:r>
                        <a:rPr dirty="0" sz="115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15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35)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2715">
                    <a:lnR w="3175">
                      <a:solidFill>
                        <a:srgbClr val="0A4F6C"/>
                      </a:solidFill>
                      <a:prstDash val="solid"/>
                    </a:lnR>
                    <a:lnT w="12700">
                      <a:solidFill>
                        <a:srgbClr val="0A4F6C"/>
                      </a:solidFill>
                      <a:prstDash val="solid"/>
                    </a:lnT>
                    <a:lnB w="12700">
                      <a:solidFill>
                        <a:srgbClr val="0A4F6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5A899A"/>
                      </a:solidFill>
                      <a:prstDash val="solid"/>
                    </a:lnR>
                    <a:lnT w="12700">
                      <a:solidFill>
                        <a:srgbClr val="0A4F6C"/>
                      </a:solidFill>
                      <a:prstDash val="solid"/>
                    </a:lnT>
                    <a:lnB w="12700">
                      <a:solidFill>
                        <a:srgbClr val="3C6B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5A899A"/>
                      </a:solidFill>
                      <a:prstDash val="solid"/>
                    </a:lnL>
                    <a:lnT w="12700">
                      <a:solidFill>
                        <a:srgbClr val="0A4F6C"/>
                      </a:solidFill>
                      <a:prstDash val="solid"/>
                    </a:lnT>
                    <a:lnB w="12700">
                      <a:solidFill>
                        <a:srgbClr val="3C6B79"/>
                      </a:solidFill>
                      <a:prstDash val="solid"/>
                    </a:lnB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 marL="98615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Morphological</a:t>
                      </a:r>
                      <a:r>
                        <a:rPr dirty="0" sz="115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Closing</a:t>
                      </a:r>
                      <a:r>
                        <a:rPr dirty="0" sz="115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(5×5,</a:t>
                      </a:r>
                      <a:r>
                        <a:rPr dirty="0" sz="1150" spc="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×2)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2715">
                    <a:lnR w="3175">
                      <a:solidFill>
                        <a:srgbClr val="3C6B79"/>
                      </a:solidFill>
                      <a:prstDash val="solid"/>
                    </a:lnR>
                    <a:lnT w="12700">
                      <a:solidFill>
                        <a:srgbClr val="3C6B79"/>
                      </a:solidFill>
                      <a:prstDash val="solid"/>
                    </a:lnT>
                    <a:lnB w="12700">
                      <a:solidFill>
                        <a:srgbClr val="3C6B7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5A899A"/>
                      </a:solidFill>
                      <a:prstDash val="solid"/>
                    </a:lnR>
                    <a:lnT w="12700">
                      <a:solidFill>
                        <a:srgbClr val="3C6B79"/>
                      </a:solidFill>
                      <a:prstDash val="solid"/>
                    </a:lnT>
                    <a:lnB w="12700">
                      <a:solidFill>
                        <a:srgbClr val="1A799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5A899A"/>
                      </a:solidFill>
                      <a:prstDash val="solid"/>
                    </a:lnL>
                    <a:lnT w="12700">
                      <a:solidFill>
                        <a:srgbClr val="3C6B79"/>
                      </a:solidFill>
                      <a:prstDash val="solid"/>
                    </a:lnT>
                    <a:lnB w="12700">
                      <a:solidFill>
                        <a:srgbClr val="1A799C"/>
                      </a:solidFill>
                      <a:prstDash val="solid"/>
                    </a:lnB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 marL="11201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r>
                        <a:rPr dirty="0" sz="115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Filtering</a:t>
                      </a:r>
                      <a:r>
                        <a:rPr dirty="0" sz="115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(0.08%–30%)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2715">
                    <a:lnR w="3175">
                      <a:solidFill>
                        <a:srgbClr val="1A799C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1A799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5A899A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E89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5A899A"/>
                      </a:solidFill>
                      <a:prstDash val="solid"/>
                    </a:lnL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E89F1F"/>
                      </a:solidFill>
                      <a:prstDash val="solid"/>
                    </a:lnB>
                  </a:tcPr>
                </a:tc>
              </a:tr>
              <a:tr h="463550">
                <a:tc gridSpan="2">
                  <a:txBody>
                    <a:bodyPr/>
                    <a:lstStyle/>
                    <a:p>
                      <a:pPr marL="11887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dirty="0" sz="11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Segmented</a:t>
                      </a:r>
                      <a:r>
                        <a:rPr dirty="0" sz="11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R w="3175">
                      <a:solidFill>
                        <a:srgbClr val="E89F1F"/>
                      </a:solidFill>
                      <a:prstDash val="solid"/>
                    </a:lnR>
                    <a:lnT w="12700">
                      <a:solidFill>
                        <a:srgbClr val="E89F1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6240" y="667512"/>
            <a:ext cx="4784598" cy="1492758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4343400" y="749808"/>
            <a:ext cx="4572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795"/>
              </a:spcBef>
            </a:pPr>
            <a:r>
              <a:rPr dirty="0" sz="1250" spc="-10" b="1">
                <a:solidFill>
                  <a:srgbClr val="0A4F6C"/>
                </a:solidFill>
                <a:latin typeface="Trebuchet MS"/>
                <a:cs typeface="Trebuchet MS"/>
              </a:rPr>
              <a:t>Black-</a:t>
            </a:r>
            <a:r>
              <a:rPr dirty="0" sz="1250" b="1">
                <a:solidFill>
                  <a:srgbClr val="0A4F6C"/>
                </a:solidFill>
                <a:latin typeface="Trebuchet MS"/>
                <a:cs typeface="Trebuchet MS"/>
              </a:rPr>
              <a:t>Hat </a:t>
            </a:r>
            <a:r>
              <a:rPr dirty="0" sz="1250" spc="-10" b="1">
                <a:solidFill>
                  <a:srgbClr val="0A4F6C"/>
                </a:solidFill>
                <a:latin typeface="Trebuchet MS"/>
                <a:cs typeface="Trebuchet MS"/>
              </a:rPr>
              <a:t>Transform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250">
              <a:latin typeface="Trebuchet MS"/>
              <a:cs typeface="Trebuchet MS"/>
            </a:endParaRPr>
          </a:p>
          <a:p>
            <a:pPr marL="119380">
              <a:lnSpc>
                <a:spcPct val="100000"/>
              </a:lnSpc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Tblackhat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=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Closing(I)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−</a:t>
            </a:r>
            <a:r>
              <a:rPr dirty="0" sz="1000" spc="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1A2D38"/>
                </a:solidFill>
                <a:latin typeface="Calibri"/>
                <a:cs typeface="Calibri"/>
              </a:rPr>
              <a:t>I</a:t>
            </a:r>
            <a:endParaRPr sz="1000">
              <a:latin typeface="Calibri"/>
              <a:cs typeface="Calibri"/>
            </a:endParaRPr>
          </a:p>
          <a:p>
            <a:pPr marL="119380">
              <a:lnSpc>
                <a:spcPct val="100000"/>
              </a:lnSpc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Isolates</a:t>
            </a:r>
            <a:r>
              <a:rPr dirty="0" sz="100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dark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regions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SMALLER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than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a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25×25</a:t>
            </a:r>
            <a:r>
              <a:rPr dirty="0" sz="100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kernel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→</a:t>
            </a:r>
            <a:r>
              <a:rPr dirty="0" sz="100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targets</a:t>
            </a:r>
            <a:r>
              <a:rPr dirty="0" sz="100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cracks/potholes,</a:t>
            </a:r>
            <a:endParaRPr sz="1000">
              <a:latin typeface="Calibri"/>
              <a:cs typeface="Calibri"/>
            </a:endParaRPr>
          </a:p>
          <a:p>
            <a:pPr marL="119380">
              <a:lnSpc>
                <a:spcPct val="100000"/>
              </a:lnSpc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ignores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large</a:t>
            </a:r>
            <a:r>
              <a:rPr dirty="0" sz="100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shadows.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6240" y="2084832"/>
            <a:ext cx="4784598" cy="149275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4343400" y="2167127"/>
            <a:ext cx="4572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800"/>
              </a:spcBef>
            </a:pPr>
            <a:r>
              <a:rPr dirty="0" sz="1250" b="1">
                <a:solidFill>
                  <a:srgbClr val="0A4F6C"/>
                </a:solidFill>
                <a:latin typeface="Trebuchet MS"/>
                <a:cs typeface="Trebuchet MS"/>
              </a:rPr>
              <a:t>Morphological</a:t>
            </a:r>
            <a:r>
              <a:rPr dirty="0" sz="1250" spc="-85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250" spc="-10" b="1">
                <a:solidFill>
                  <a:srgbClr val="0A4F6C"/>
                </a:solidFill>
                <a:latin typeface="Trebuchet MS"/>
                <a:cs typeface="Trebuchet MS"/>
              </a:rPr>
              <a:t>Closing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250">
              <a:latin typeface="Trebuchet MS"/>
              <a:cs typeface="Trebuchet MS"/>
            </a:endParaRPr>
          </a:p>
          <a:p>
            <a:pPr marL="119380">
              <a:lnSpc>
                <a:spcPts val="1195"/>
              </a:lnSpc>
            </a:pP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Closing(A,B)</a:t>
            </a:r>
            <a:r>
              <a:rPr dirty="0" sz="100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= (A</a:t>
            </a:r>
            <a:r>
              <a:rPr dirty="0" sz="100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mbria Math"/>
                <a:cs typeface="Cambria Math"/>
              </a:rPr>
              <a:t>⊕</a:t>
            </a:r>
            <a:r>
              <a:rPr dirty="0" sz="1000" spc="15">
                <a:solidFill>
                  <a:srgbClr val="1A2D38"/>
                </a:solidFill>
                <a:latin typeface="Cambria Math"/>
                <a:cs typeface="Cambria Math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B)</a:t>
            </a:r>
            <a:r>
              <a:rPr dirty="0" sz="1000" spc="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mbria Math"/>
                <a:cs typeface="Cambria Math"/>
              </a:rPr>
              <a:t>⊖</a:t>
            </a:r>
            <a:r>
              <a:rPr dirty="0" sz="1000" spc="10">
                <a:solidFill>
                  <a:srgbClr val="1A2D38"/>
                </a:solidFill>
                <a:latin typeface="Cambria Math"/>
                <a:cs typeface="Cambria Math"/>
              </a:rPr>
              <a:t> </a:t>
            </a:r>
            <a:r>
              <a:rPr dirty="0" sz="1000" spc="-50">
                <a:solidFill>
                  <a:srgbClr val="1A2D38"/>
                </a:solidFill>
                <a:latin typeface="Calibri"/>
                <a:cs typeface="Calibri"/>
              </a:rPr>
              <a:t>B</a:t>
            </a:r>
            <a:endParaRPr sz="1000">
              <a:latin typeface="Calibri"/>
              <a:cs typeface="Calibri"/>
            </a:endParaRPr>
          </a:p>
          <a:p>
            <a:pPr marL="119380" marR="370840">
              <a:lnSpc>
                <a:spcPts val="1200"/>
              </a:lnSpc>
              <a:spcBef>
                <a:spcPts val="35"/>
              </a:spcBef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Bridges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fragmented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crack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segments,</a:t>
            </a:r>
            <a:r>
              <a:rPr dirty="0" sz="100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ensuring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structural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continuity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for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accurate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severity</a:t>
            </a:r>
            <a:r>
              <a:rPr dirty="0" sz="1000" spc="-4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assessment.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6240" y="3502126"/>
            <a:ext cx="4784598" cy="1492758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4343400" y="3584447"/>
            <a:ext cx="4572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800"/>
              </a:spcBef>
            </a:pPr>
            <a:r>
              <a:rPr dirty="0" sz="1250" spc="-10" b="1">
                <a:solidFill>
                  <a:srgbClr val="0A4F6C"/>
                </a:solidFill>
                <a:latin typeface="Trebuchet MS"/>
                <a:cs typeface="Trebuchet MS"/>
              </a:rPr>
              <a:t>Dynamic</a:t>
            </a:r>
            <a:r>
              <a:rPr dirty="0" sz="1250" spc="-60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250" b="1">
                <a:solidFill>
                  <a:srgbClr val="0A4F6C"/>
                </a:solidFill>
                <a:latin typeface="Trebuchet MS"/>
                <a:cs typeface="Trebuchet MS"/>
              </a:rPr>
              <a:t>Area</a:t>
            </a:r>
            <a:r>
              <a:rPr dirty="0" sz="1250" spc="10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250" spc="-10" b="1">
                <a:solidFill>
                  <a:srgbClr val="0A4F6C"/>
                </a:solidFill>
                <a:latin typeface="Trebuchet MS"/>
                <a:cs typeface="Trebuchet MS"/>
              </a:rPr>
              <a:t>Filtering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Trebuchet MS"/>
              <a:cs typeface="Trebuchet MS"/>
            </a:endParaRPr>
          </a:p>
          <a:p>
            <a:pPr marL="119380">
              <a:lnSpc>
                <a:spcPct val="100000"/>
              </a:lnSpc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Accepts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contours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between</a:t>
            </a:r>
            <a:r>
              <a:rPr dirty="0" sz="100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0.08%</a:t>
            </a:r>
            <a:r>
              <a:rPr dirty="0" sz="100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and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30%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of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frame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area.</a:t>
            </a:r>
            <a:endParaRPr sz="1000">
              <a:latin typeface="Calibri"/>
              <a:cs typeface="Calibri"/>
            </a:endParaRPr>
          </a:p>
          <a:p>
            <a:pPr marL="119380">
              <a:lnSpc>
                <a:spcPct val="100000"/>
              </a:lnSpc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Eliminates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gravel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noise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(too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small)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and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false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shadow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regions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(too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large).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91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solidFill>
                  <a:srgbClr val="0D3A5E"/>
                </a:solidFill>
                <a:latin typeface="Calibri"/>
                <a:cs typeface="Calibri"/>
              </a:rPr>
              <a:t>Integrated</a:t>
            </a:r>
            <a:r>
              <a:rPr dirty="0" sz="2800" spc="-80">
                <a:solidFill>
                  <a:srgbClr val="0D3A5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0D3A5E"/>
                </a:solidFill>
                <a:latin typeface="Calibri"/>
                <a:cs typeface="Calibri"/>
              </a:rPr>
              <a:t>Processing</a:t>
            </a:r>
            <a:r>
              <a:rPr dirty="0" sz="2800" spc="-114">
                <a:solidFill>
                  <a:srgbClr val="0D3A5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0D3A5E"/>
                </a:solidFill>
                <a:latin typeface="Calibri"/>
                <a:cs typeface="Calibri"/>
              </a:rPr>
              <a:t>Pipeline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13690" y="1045210"/>
            <a:ext cx="1795780" cy="1384300"/>
            <a:chOff x="313690" y="1045210"/>
            <a:chExt cx="1795780" cy="1384300"/>
          </a:xfrm>
        </p:grpSpPr>
        <p:sp>
          <p:nvSpPr>
            <p:cNvPr id="4" name="object 4" descr=""/>
            <p:cNvSpPr/>
            <p:nvPr/>
          </p:nvSpPr>
          <p:spPr>
            <a:xfrm>
              <a:off x="320040" y="1051560"/>
              <a:ext cx="1783080" cy="1371600"/>
            </a:xfrm>
            <a:custGeom>
              <a:avLst/>
              <a:gdLst/>
              <a:ahLst/>
              <a:cxnLst/>
              <a:rect l="l" t="t" r="r" b="b"/>
              <a:pathLst>
                <a:path w="1783080" h="1371600">
                  <a:moveTo>
                    <a:pt x="178308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1783080" y="1371600"/>
                  </a:lnTo>
                  <a:lnTo>
                    <a:pt x="1783080" y="0"/>
                  </a:lnTo>
                  <a:close/>
                </a:path>
              </a:pathLst>
            </a:custGeom>
            <a:solidFill>
              <a:srgbClr val="0A3B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20040" y="1051560"/>
              <a:ext cx="1783080" cy="1371600"/>
            </a:xfrm>
            <a:custGeom>
              <a:avLst/>
              <a:gdLst/>
              <a:ahLst/>
              <a:cxnLst/>
              <a:rect l="l" t="t" r="r" b="b"/>
              <a:pathLst>
                <a:path w="1783080" h="1371600">
                  <a:moveTo>
                    <a:pt x="0" y="1371600"/>
                  </a:moveTo>
                  <a:lnTo>
                    <a:pt x="1783080" y="1371600"/>
                  </a:lnTo>
                  <a:lnTo>
                    <a:pt x="178308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0D3A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93192" y="112471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36" y="0"/>
                  </a:move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19920" y="341270"/>
                  </a:lnTo>
                  <a:lnTo>
                    <a:pt x="261422" y="323765"/>
                  </a:lnTo>
                  <a:lnTo>
                    <a:pt x="296584" y="296608"/>
                  </a:lnTo>
                  <a:lnTo>
                    <a:pt x="323751" y="261450"/>
                  </a:lnTo>
                  <a:lnTo>
                    <a:pt x="341265" y="219942"/>
                  </a:lnTo>
                  <a:lnTo>
                    <a:pt x="347472" y="173736"/>
                  </a:lnTo>
                  <a:lnTo>
                    <a:pt x="341265" y="127529"/>
                  </a:lnTo>
                  <a:lnTo>
                    <a:pt x="323751" y="86021"/>
                  </a:lnTo>
                  <a:lnTo>
                    <a:pt x="296584" y="50863"/>
                  </a:lnTo>
                  <a:lnTo>
                    <a:pt x="261422" y="23706"/>
                  </a:lnTo>
                  <a:lnTo>
                    <a:pt x="219920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3192" y="112471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19920" y="6201"/>
                  </a:lnTo>
                  <a:lnTo>
                    <a:pt x="261422" y="23706"/>
                  </a:lnTo>
                  <a:lnTo>
                    <a:pt x="296584" y="50863"/>
                  </a:lnTo>
                  <a:lnTo>
                    <a:pt x="323751" y="86021"/>
                  </a:lnTo>
                  <a:lnTo>
                    <a:pt x="341265" y="127529"/>
                  </a:lnTo>
                  <a:lnTo>
                    <a:pt x="347472" y="173736"/>
                  </a:lnTo>
                  <a:lnTo>
                    <a:pt x="341265" y="219942"/>
                  </a:lnTo>
                  <a:lnTo>
                    <a:pt x="323751" y="261450"/>
                  </a:lnTo>
                  <a:lnTo>
                    <a:pt x="296584" y="296608"/>
                  </a:lnTo>
                  <a:lnTo>
                    <a:pt x="261422" y="323765"/>
                  </a:lnTo>
                  <a:lnTo>
                    <a:pt x="219920" y="341270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11377" y="1511935"/>
            <a:ext cx="812165" cy="697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3340" marR="58419" indent="127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Frame Extraction</a:t>
            </a:r>
            <a:endParaRPr sz="1300">
              <a:latin typeface="Calibri"/>
              <a:cs typeface="Calibri"/>
            </a:endParaRPr>
          </a:p>
          <a:p>
            <a:pPr algn="ctr" marR="5080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Every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10th</a:t>
            </a:r>
            <a:r>
              <a:rPr dirty="0" sz="900" spc="-1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frame</a:t>
            </a:r>
            <a:r>
              <a:rPr dirty="0" sz="900" spc="50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Saved</a:t>
            </a:r>
            <a:r>
              <a:rPr dirty="0" sz="900" spc="-2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as</a:t>
            </a:r>
            <a:r>
              <a:rPr dirty="0" sz="900" spc="-3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AACCDD"/>
                </a:solidFill>
                <a:latin typeface="Calibri"/>
                <a:cs typeface="Calibri"/>
              </a:rPr>
              <a:t>JPEG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123820" y="1045210"/>
            <a:ext cx="2089150" cy="1384300"/>
            <a:chOff x="2123820" y="1045210"/>
            <a:chExt cx="2089150" cy="1384300"/>
          </a:xfrm>
        </p:grpSpPr>
        <p:sp>
          <p:nvSpPr>
            <p:cNvPr id="10" name="object 10" descr=""/>
            <p:cNvSpPr/>
            <p:nvPr/>
          </p:nvSpPr>
          <p:spPr>
            <a:xfrm>
              <a:off x="2139695" y="1728216"/>
              <a:ext cx="247015" cy="0"/>
            </a:xfrm>
            <a:custGeom>
              <a:avLst/>
              <a:gdLst/>
              <a:ahLst/>
              <a:cxnLst/>
              <a:rect l="l" t="t" r="r" b="b"/>
              <a:pathLst>
                <a:path w="247014" h="0">
                  <a:moveTo>
                    <a:pt x="0" y="0"/>
                  </a:moveTo>
                  <a:lnTo>
                    <a:pt x="246887" y="0"/>
                  </a:lnTo>
                </a:path>
              </a:pathLst>
            </a:custGeom>
            <a:ln w="3175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23159" y="1051560"/>
              <a:ext cx="1783080" cy="1371600"/>
            </a:xfrm>
            <a:custGeom>
              <a:avLst/>
              <a:gdLst/>
              <a:ahLst/>
              <a:cxnLst/>
              <a:rect l="l" t="t" r="r" b="b"/>
              <a:pathLst>
                <a:path w="1783079" h="1371600">
                  <a:moveTo>
                    <a:pt x="178308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1783080" y="1371600"/>
                  </a:lnTo>
                  <a:lnTo>
                    <a:pt x="1783080" y="0"/>
                  </a:lnTo>
                  <a:close/>
                </a:path>
              </a:pathLst>
            </a:custGeom>
            <a:solidFill>
              <a:srgbClr val="0D3A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423159" y="1051560"/>
              <a:ext cx="1783080" cy="1371600"/>
            </a:xfrm>
            <a:custGeom>
              <a:avLst/>
              <a:gdLst/>
              <a:ahLst/>
              <a:cxnLst/>
              <a:rect l="l" t="t" r="r" b="b"/>
              <a:pathLst>
                <a:path w="1783079" h="1371600">
                  <a:moveTo>
                    <a:pt x="0" y="1371600"/>
                  </a:moveTo>
                  <a:lnTo>
                    <a:pt x="1783080" y="1371600"/>
                  </a:lnTo>
                  <a:lnTo>
                    <a:pt x="178308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0D3A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496311" y="112471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36" y="0"/>
                  </a:moveTo>
                  <a:lnTo>
                    <a:pt x="127529" y="6201"/>
                  </a:lnTo>
                  <a:lnTo>
                    <a:pt x="86021" y="23706"/>
                  </a:lnTo>
                  <a:lnTo>
                    <a:pt x="50863" y="50863"/>
                  </a:lnTo>
                  <a:lnTo>
                    <a:pt x="23706" y="86021"/>
                  </a:lnTo>
                  <a:lnTo>
                    <a:pt x="6201" y="127529"/>
                  </a:lnTo>
                  <a:lnTo>
                    <a:pt x="0" y="173736"/>
                  </a:lnTo>
                  <a:lnTo>
                    <a:pt x="6201" y="219942"/>
                  </a:lnTo>
                  <a:lnTo>
                    <a:pt x="23706" y="261450"/>
                  </a:lnTo>
                  <a:lnTo>
                    <a:pt x="50863" y="296608"/>
                  </a:lnTo>
                  <a:lnTo>
                    <a:pt x="86021" y="323765"/>
                  </a:lnTo>
                  <a:lnTo>
                    <a:pt x="127529" y="341270"/>
                  </a:lnTo>
                  <a:lnTo>
                    <a:pt x="173736" y="347472"/>
                  </a:lnTo>
                  <a:lnTo>
                    <a:pt x="219942" y="341270"/>
                  </a:lnTo>
                  <a:lnTo>
                    <a:pt x="261450" y="323765"/>
                  </a:lnTo>
                  <a:lnTo>
                    <a:pt x="296608" y="296608"/>
                  </a:lnTo>
                  <a:lnTo>
                    <a:pt x="323765" y="261450"/>
                  </a:lnTo>
                  <a:lnTo>
                    <a:pt x="341270" y="219942"/>
                  </a:lnTo>
                  <a:lnTo>
                    <a:pt x="347471" y="173736"/>
                  </a:lnTo>
                  <a:lnTo>
                    <a:pt x="341270" y="127529"/>
                  </a:lnTo>
                  <a:lnTo>
                    <a:pt x="323765" y="86021"/>
                  </a:lnTo>
                  <a:lnTo>
                    <a:pt x="296608" y="50863"/>
                  </a:lnTo>
                  <a:lnTo>
                    <a:pt x="261450" y="23706"/>
                  </a:lnTo>
                  <a:lnTo>
                    <a:pt x="219942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496311" y="112471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736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6" y="0"/>
                  </a:lnTo>
                  <a:lnTo>
                    <a:pt x="219942" y="6201"/>
                  </a:lnTo>
                  <a:lnTo>
                    <a:pt x="261450" y="23706"/>
                  </a:lnTo>
                  <a:lnTo>
                    <a:pt x="296608" y="50863"/>
                  </a:lnTo>
                  <a:lnTo>
                    <a:pt x="323765" y="86021"/>
                  </a:lnTo>
                  <a:lnTo>
                    <a:pt x="341270" y="127529"/>
                  </a:lnTo>
                  <a:lnTo>
                    <a:pt x="347471" y="173736"/>
                  </a:lnTo>
                  <a:lnTo>
                    <a:pt x="341270" y="219942"/>
                  </a:lnTo>
                  <a:lnTo>
                    <a:pt x="323765" y="261450"/>
                  </a:lnTo>
                  <a:lnTo>
                    <a:pt x="296608" y="296608"/>
                  </a:lnTo>
                  <a:lnTo>
                    <a:pt x="261450" y="323765"/>
                  </a:lnTo>
                  <a:lnTo>
                    <a:pt x="219942" y="341270"/>
                  </a:lnTo>
                  <a:lnTo>
                    <a:pt x="173736" y="347472"/>
                  </a:lnTo>
                  <a:lnTo>
                    <a:pt x="127529" y="341270"/>
                  </a:lnTo>
                  <a:lnTo>
                    <a:pt x="86021" y="323765"/>
                  </a:lnTo>
                  <a:lnTo>
                    <a:pt x="50863" y="296608"/>
                  </a:lnTo>
                  <a:lnTo>
                    <a:pt x="23706" y="261450"/>
                  </a:lnTo>
                  <a:lnTo>
                    <a:pt x="6201" y="219942"/>
                  </a:lnTo>
                  <a:lnTo>
                    <a:pt x="0" y="173736"/>
                  </a:lnTo>
                  <a:close/>
                </a:path>
              </a:pathLst>
            </a:custGeom>
            <a:ln w="12699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808097" y="1610994"/>
            <a:ext cx="1024890" cy="735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Enhancement</a:t>
            </a:r>
            <a:endParaRPr sz="1300">
              <a:latin typeface="Calibri"/>
              <a:cs typeface="Calibri"/>
            </a:endParaRPr>
          </a:p>
          <a:p>
            <a:pPr algn="ctr" marR="5080">
              <a:lnSpc>
                <a:spcPct val="100000"/>
              </a:lnSpc>
              <a:spcBef>
                <a:spcPts val="795"/>
              </a:spcBef>
            </a:pP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Grayscale</a:t>
            </a:r>
            <a:r>
              <a:rPr dirty="0" sz="900" spc="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→</a:t>
            </a:r>
            <a:r>
              <a:rPr dirty="0" sz="900" spc="2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Denoise</a:t>
            </a:r>
            <a:r>
              <a:rPr dirty="0" sz="900" spc="50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CLAHE</a:t>
            </a:r>
            <a:r>
              <a:rPr dirty="0" sz="900" spc="-2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→</a:t>
            </a:r>
            <a:r>
              <a:rPr dirty="0" sz="900" spc="-2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Illumination</a:t>
            </a:r>
            <a:endParaRPr sz="900">
              <a:latin typeface="Calibri"/>
              <a:cs typeface="Calibri"/>
            </a:endParaRPr>
          </a:p>
          <a:p>
            <a:pPr algn="ctr" marR="4445">
              <a:lnSpc>
                <a:spcPct val="100000"/>
              </a:lnSpc>
            </a:pP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→</a:t>
            </a:r>
            <a:r>
              <a:rPr dirty="0" sz="900" spc="-1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Sharpen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226940" y="1045210"/>
            <a:ext cx="2089150" cy="1384300"/>
            <a:chOff x="4226940" y="1045210"/>
            <a:chExt cx="2089150" cy="1384300"/>
          </a:xfrm>
        </p:grpSpPr>
        <p:sp>
          <p:nvSpPr>
            <p:cNvPr id="17" name="object 17" descr=""/>
            <p:cNvSpPr/>
            <p:nvPr/>
          </p:nvSpPr>
          <p:spPr>
            <a:xfrm>
              <a:off x="4242815" y="1728216"/>
              <a:ext cx="247015" cy="0"/>
            </a:xfrm>
            <a:custGeom>
              <a:avLst/>
              <a:gdLst/>
              <a:ahLst/>
              <a:cxnLst/>
              <a:rect l="l" t="t" r="r" b="b"/>
              <a:pathLst>
                <a:path w="247014" h="0">
                  <a:moveTo>
                    <a:pt x="0" y="0"/>
                  </a:moveTo>
                  <a:lnTo>
                    <a:pt x="246887" y="0"/>
                  </a:lnTo>
                </a:path>
              </a:pathLst>
            </a:custGeom>
            <a:ln w="3175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526279" y="1051560"/>
              <a:ext cx="1783080" cy="1371600"/>
            </a:xfrm>
            <a:custGeom>
              <a:avLst/>
              <a:gdLst/>
              <a:ahLst/>
              <a:cxnLst/>
              <a:rect l="l" t="t" r="r" b="b"/>
              <a:pathLst>
                <a:path w="1783079" h="1371600">
                  <a:moveTo>
                    <a:pt x="1783079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1783079" y="1371600"/>
                  </a:lnTo>
                  <a:lnTo>
                    <a:pt x="1783079" y="0"/>
                  </a:lnTo>
                  <a:close/>
                </a:path>
              </a:pathLst>
            </a:custGeom>
            <a:solidFill>
              <a:srgbClr val="0D3A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526279" y="1051560"/>
              <a:ext cx="1783080" cy="1371600"/>
            </a:xfrm>
            <a:custGeom>
              <a:avLst/>
              <a:gdLst/>
              <a:ahLst/>
              <a:cxnLst/>
              <a:rect l="l" t="t" r="r" b="b"/>
              <a:pathLst>
                <a:path w="1783079" h="1371600">
                  <a:moveTo>
                    <a:pt x="0" y="1371600"/>
                  </a:moveTo>
                  <a:lnTo>
                    <a:pt x="1783079" y="1371600"/>
                  </a:lnTo>
                  <a:lnTo>
                    <a:pt x="1783079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0D3A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99431" y="112471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735" y="0"/>
                  </a:moveTo>
                  <a:lnTo>
                    <a:pt x="127529" y="6201"/>
                  </a:lnTo>
                  <a:lnTo>
                    <a:pt x="86021" y="23706"/>
                  </a:lnTo>
                  <a:lnTo>
                    <a:pt x="50863" y="50863"/>
                  </a:lnTo>
                  <a:lnTo>
                    <a:pt x="23706" y="86021"/>
                  </a:lnTo>
                  <a:lnTo>
                    <a:pt x="6201" y="127529"/>
                  </a:lnTo>
                  <a:lnTo>
                    <a:pt x="0" y="173736"/>
                  </a:lnTo>
                  <a:lnTo>
                    <a:pt x="6201" y="219942"/>
                  </a:lnTo>
                  <a:lnTo>
                    <a:pt x="23706" y="261450"/>
                  </a:lnTo>
                  <a:lnTo>
                    <a:pt x="50863" y="296608"/>
                  </a:lnTo>
                  <a:lnTo>
                    <a:pt x="86021" y="323765"/>
                  </a:lnTo>
                  <a:lnTo>
                    <a:pt x="127529" y="341270"/>
                  </a:lnTo>
                  <a:lnTo>
                    <a:pt x="173735" y="347472"/>
                  </a:lnTo>
                  <a:lnTo>
                    <a:pt x="219942" y="341270"/>
                  </a:lnTo>
                  <a:lnTo>
                    <a:pt x="261450" y="323765"/>
                  </a:lnTo>
                  <a:lnTo>
                    <a:pt x="296608" y="296608"/>
                  </a:lnTo>
                  <a:lnTo>
                    <a:pt x="323765" y="261450"/>
                  </a:lnTo>
                  <a:lnTo>
                    <a:pt x="341270" y="219942"/>
                  </a:lnTo>
                  <a:lnTo>
                    <a:pt x="347471" y="173736"/>
                  </a:lnTo>
                  <a:lnTo>
                    <a:pt x="341270" y="127529"/>
                  </a:lnTo>
                  <a:lnTo>
                    <a:pt x="323765" y="86021"/>
                  </a:lnTo>
                  <a:lnTo>
                    <a:pt x="296608" y="50863"/>
                  </a:lnTo>
                  <a:lnTo>
                    <a:pt x="261450" y="23706"/>
                  </a:lnTo>
                  <a:lnTo>
                    <a:pt x="219942" y="6201"/>
                  </a:lnTo>
                  <a:lnTo>
                    <a:pt x="173735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99431" y="112471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736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5" y="0"/>
                  </a:lnTo>
                  <a:lnTo>
                    <a:pt x="219942" y="6201"/>
                  </a:lnTo>
                  <a:lnTo>
                    <a:pt x="261450" y="23706"/>
                  </a:lnTo>
                  <a:lnTo>
                    <a:pt x="296608" y="50863"/>
                  </a:lnTo>
                  <a:lnTo>
                    <a:pt x="323765" y="86021"/>
                  </a:lnTo>
                  <a:lnTo>
                    <a:pt x="341270" y="127529"/>
                  </a:lnTo>
                  <a:lnTo>
                    <a:pt x="347471" y="173736"/>
                  </a:lnTo>
                  <a:lnTo>
                    <a:pt x="341270" y="219942"/>
                  </a:lnTo>
                  <a:lnTo>
                    <a:pt x="323765" y="261450"/>
                  </a:lnTo>
                  <a:lnTo>
                    <a:pt x="296608" y="296608"/>
                  </a:lnTo>
                  <a:lnTo>
                    <a:pt x="261450" y="323765"/>
                  </a:lnTo>
                  <a:lnTo>
                    <a:pt x="219942" y="341270"/>
                  </a:lnTo>
                  <a:lnTo>
                    <a:pt x="173735" y="347472"/>
                  </a:lnTo>
                  <a:lnTo>
                    <a:pt x="127529" y="341270"/>
                  </a:lnTo>
                  <a:lnTo>
                    <a:pt x="86021" y="323765"/>
                  </a:lnTo>
                  <a:lnTo>
                    <a:pt x="50863" y="296608"/>
                  </a:lnTo>
                  <a:lnTo>
                    <a:pt x="23706" y="261450"/>
                  </a:lnTo>
                  <a:lnTo>
                    <a:pt x="6201" y="219942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53059" y="735838"/>
            <a:ext cx="4479290" cy="671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i="1">
                <a:solidFill>
                  <a:srgbClr val="496178"/>
                </a:solidFill>
                <a:latin typeface="Calibri"/>
                <a:cs typeface="Calibri"/>
              </a:rPr>
              <a:t>4-</a:t>
            </a:r>
            <a:r>
              <a:rPr dirty="0" sz="1100" i="1">
                <a:solidFill>
                  <a:srgbClr val="496178"/>
                </a:solidFill>
                <a:latin typeface="Calibri"/>
                <a:cs typeface="Calibri"/>
              </a:rPr>
              <a:t>Stage</a:t>
            </a:r>
            <a:r>
              <a:rPr dirty="0" sz="1100" spc="-15" i="1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496178"/>
                </a:solidFill>
                <a:latin typeface="Calibri"/>
                <a:cs typeface="Calibri"/>
              </a:rPr>
              <a:t>End-to-</a:t>
            </a:r>
            <a:r>
              <a:rPr dirty="0" sz="1100" i="1">
                <a:solidFill>
                  <a:srgbClr val="496178"/>
                </a:solidFill>
                <a:latin typeface="Calibri"/>
                <a:cs typeface="Calibri"/>
              </a:rPr>
              <a:t>End</a:t>
            </a:r>
            <a:r>
              <a:rPr dirty="0" sz="1100" spc="-20" i="1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96178"/>
                </a:solidFill>
                <a:latin typeface="Calibri"/>
                <a:cs typeface="Calibri"/>
              </a:rPr>
              <a:t>Video</a:t>
            </a:r>
            <a:r>
              <a:rPr dirty="0" sz="1100" spc="10" i="1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496178"/>
                </a:solidFill>
                <a:latin typeface="Calibri"/>
                <a:cs typeface="Calibri"/>
              </a:rPr>
              <a:t>Processing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alibri"/>
              <a:cs typeface="Calibri"/>
            </a:endParaRPr>
          </a:p>
          <a:p>
            <a:pPr marL="168910">
              <a:lnSpc>
                <a:spcPct val="100000"/>
              </a:lnSpc>
              <a:tabLst>
                <a:tab pos="2272030" algn="l"/>
                <a:tab pos="4375785" algn="l"/>
              </a:tabLst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807965" y="1610994"/>
            <a:ext cx="1233805" cy="735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Segmentation</a:t>
            </a:r>
            <a:endParaRPr sz="1300">
              <a:latin typeface="Calibri"/>
              <a:cs typeface="Calibri"/>
            </a:endParaRPr>
          </a:p>
          <a:p>
            <a:pPr algn="ctr" marR="5080" indent="-1905">
              <a:lnSpc>
                <a:spcPct val="100000"/>
              </a:lnSpc>
              <a:spcBef>
                <a:spcPts val="795"/>
              </a:spcBef>
            </a:pP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Median</a:t>
            </a:r>
            <a:r>
              <a:rPr dirty="0" sz="900" spc="-1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Blur</a:t>
            </a:r>
            <a:r>
              <a:rPr dirty="0" sz="900" spc="-1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→</a:t>
            </a:r>
            <a:r>
              <a:rPr dirty="0" sz="900" spc="-4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Adaptive</a:t>
            </a:r>
            <a:r>
              <a:rPr dirty="0" sz="900" spc="50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Threshold</a:t>
            </a:r>
            <a:r>
              <a:rPr dirty="0" sz="900" spc="-2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→</a:t>
            </a:r>
            <a:r>
              <a:rPr dirty="0" sz="900" spc="-5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Morph</a:t>
            </a:r>
            <a:r>
              <a:rPr dirty="0" sz="900" spc="-3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AACCDD"/>
                </a:solidFill>
                <a:latin typeface="Calibri"/>
                <a:cs typeface="Calibri"/>
              </a:rPr>
              <a:t>Clean</a:t>
            </a:r>
            <a:endParaRPr sz="900">
              <a:latin typeface="Calibri"/>
              <a:cs typeface="Calibri"/>
            </a:endParaRPr>
          </a:p>
          <a:p>
            <a:pPr algn="ctr" marR="4445">
              <a:lnSpc>
                <a:spcPct val="100000"/>
              </a:lnSpc>
            </a:pP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→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Component</a:t>
            </a:r>
            <a:r>
              <a:rPr dirty="0" sz="900" spc="2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Filter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330060" y="1054861"/>
            <a:ext cx="2089150" cy="1384300"/>
            <a:chOff x="6330060" y="1054861"/>
            <a:chExt cx="2089150" cy="1384300"/>
          </a:xfrm>
        </p:grpSpPr>
        <p:sp>
          <p:nvSpPr>
            <p:cNvPr id="25" name="object 25" descr=""/>
            <p:cNvSpPr/>
            <p:nvPr/>
          </p:nvSpPr>
          <p:spPr>
            <a:xfrm>
              <a:off x="6345935" y="1728215"/>
              <a:ext cx="247015" cy="0"/>
            </a:xfrm>
            <a:custGeom>
              <a:avLst/>
              <a:gdLst/>
              <a:ahLst/>
              <a:cxnLst/>
              <a:rect l="l" t="t" r="r" b="b"/>
              <a:pathLst>
                <a:path w="247015" h="0">
                  <a:moveTo>
                    <a:pt x="0" y="0"/>
                  </a:moveTo>
                  <a:lnTo>
                    <a:pt x="246887" y="0"/>
                  </a:lnTo>
                </a:path>
              </a:pathLst>
            </a:custGeom>
            <a:ln w="3175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629399" y="1061211"/>
              <a:ext cx="1783080" cy="1371600"/>
            </a:xfrm>
            <a:custGeom>
              <a:avLst/>
              <a:gdLst/>
              <a:ahLst/>
              <a:cxnLst/>
              <a:rect l="l" t="t" r="r" b="b"/>
              <a:pathLst>
                <a:path w="1783079" h="1371600">
                  <a:moveTo>
                    <a:pt x="1783079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1783079" y="1371600"/>
                  </a:lnTo>
                  <a:lnTo>
                    <a:pt x="1783079" y="0"/>
                  </a:lnTo>
                  <a:close/>
                </a:path>
              </a:pathLst>
            </a:custGeom>
            <a:solidFill>
              <a:srgbClr val="0D3A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629399" y="1061211"/>
              <a:ext cx="1783080" cy="1371600"/>
            </a:xfrm>
            <a:custGeom>
              <a:avLst/>
              <a:gdLst/>
              <a:ahLst/>
              <a:cxnLst/>
              <a:rect l="l" t="t" r="r" b="b"/>
              <a:pathLst>
                <a:path w="1783079" h="1371600">
                  <a:moveTo>
                    <a:pt x="0" y="1371600"/>
                  </a:moveTo>
                  <a:lnTo>
                    <a:pt x="1783079" y="1371600"/>
                  </a:lnTo>
                  <a:lnTo>
                    <a:pt x="1783079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0D3A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702551" y="112471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736" y="0"/>
                  </a:moveTo>
                  <a:lnTo>
                    <a:pt x="127529" y="6201"/>
                  </a:lnTo>
                  <a:lnTo>
                    <a:pt x="86021" y="23706"/>
                  </a:lnTo>
                  <a:lnTo>
                    <a:pt x="50863" y="50863"/>
                  </a:lnTo>
                  <a:lnTo>
                    <a:pt x="23706" y="86021"/>
                  </a:lnTo>
                  <a:lnTo>
                    <a:pt x="6201" y="127529"/>
                  </a:lnTo>
                  <a:lnTo>
                    <a:pt x="0" y="173736"/>
                  </a:lnTo>
                  <a:lnTo>
                    <a:pt x="6201" y="219942"/>
                  </a:lnTo>
                  <a:lnTo>
                    <a:pt x="23706" y="261450"/>
                  </a:lnTo>
                  <a:lnTo>
                    <a:pt x="50863" y="296608"/>
                  </a:lnTo>
                  <a:lnTo>
                    <a:pt x="86021" y="323765"/>
                  </a:lnTo>
                  <a:lnTo>
                    <a:pt x="127529" y="341270"/>
                  </a:lnTo>
                  <a:lnTo>
                    <a:pt x="173736" y="347472"/>
                  </a:lnTo>
                  <a:lnTo>
                    <a:pt x="219942" y="341270"/>
                  </a:lnTo>
                  <a:lnTo>
                    <a:pt x="261450" y="323765"/>
                  </a:lnTo>
                  <a:lnTo>
                    <a:pt x="296608" y="296608"/>
                  </a:lnTo>
                  <a:lnTo>
                    <a:pt x="323765" y="261450"/>
                  </a:lnTo>
                  <a:lnTo>
                    <a:pt x="341270" y="219942"/>
                  </a:lnTo>
                  <a:lnTo>
                    <a:pt x="347472" y="173736"/>
                  </a:lnTo>
                  <a:lnTo>
                    <a:pt x="341270" y="127529"/>
                  </a:lnTo>
                  <a:lnTo>
                    <a:pt x="323765" y="86021"/>
                  </a:lnTo>
                  <a:lnTo>
                    <a:pt x="296608" y="50863"/>
                  </a:lnTo>
                  <a:lnTo>
                    <a:pt x="261450" y="23706"/>
                  </a:lnTo>
                  <a:lnTo>
                    <a:pt x="219942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702551" y="1124711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736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6" y="0"/>
                  </a:lnTo>
                  <a:lnTo>
                    <a:pt x="219942" y="6201"/>
                  </a:lnTo>
                  <a:lnTo>
                    <a:pt x="261450" y="23706"/>
                  </a:lnTo>
                  <a:lnTo>
                    <a:pt x="296608" y="50863"/>
                  </a:lnTo>
                  <a:lnTo>
                    <a:pt x="323765" y="86021"/>
                  </a:lnTo>
                  <a:lnTo>
                    <a:pt x="341270" y="127529"/>
                  </a:lnTo>
                  <a:lnTo>
                    <a:pt x="347472" y="173736"/>
                  </a:lnTo>
                  <a:lnTo>
                    <a:pt x="341270" y="219942"/>
                  </a:lnTo>
                  <a:lnTo>
                    <a:pt x="323765" y="261450"/>
                  </a:lnTo>
                  <a:lnTo>
                    <a:pt x="296608" y="296608"/>
                  </a:lnTo>
                  <a:lnTo>
                    <a:pt x="261450" y="323765"/>
                  </a:lnTo>
                  <a:lnTo>
                    <a:pt x="219942" y="341270"/>
                  </a:lnTo>
                  <a:lnTo>
                    <a:pt x="173736" y="347472"/>
                  </a:lnTo>
                  <a:lnTo>
                    <a:pt x="127529" y="341270"/>
                  </a:lnTo>
                  <a:lnTo>
                    <a:pt x="86021" y="323765"/>
                  </a:lnTo>
                  <a:lnTo>
                    <a:pt x="50863" y="296608"/>
                  </a:lnTo>
                  <a:lnTo>
                    <a:pt x="23706" y="261450"/>
                  </a:lnTo>
                  <a:lnTo>
                    <a:pt x="6201" y="219942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832345" y="1167130"/>
            <a:ext cx="1035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024116" y="1511935"/>
            <a:ext cx="1008380" cy="697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13360" marR="218440" indent="-127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Contour Marking</a:t>
            </a:r>
            <a:endParaRPr sz="1300">
              <a:latin typeface="Calibri"/>
              <a:cs typeface="Calibri"/>
            </a:endParaRPr>
          </a:p>
          <a:p>
            <a:pPr algn="ctr" marR="5080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Draw</a:t>
            </a:r>
            <a:r>
              <a:rPr dirty="0" sz="900" spc="-3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red</a:t>
            </a:r>
            <a:r>
              <a:rPr dirty="0" sz="900" spc="-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contours</a:t>
            </a:r>
            <a:r>
              <a:rPr dirty="0" sz="900" spc="50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over</a:t>
            </a:r>
            <a:r>
              <a:rPr dirty="0" sz="900" spc="-35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AACCDD"/>
                </a:solidFill>
                <a:latin typeface="Calibri"/>
                <a:cs typeface="Calibri"/>
              </a:rPr>
              <a:t>enhanced</a:t>
            </a:r>
            <a:r>
              <a:rPr dirty="0" sz="900" spc="-20">
                <a:solidFill>
                  <a:srgbClr val="AACCD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AACCDD"/>
                </a:solidFill>
                <a:latin typeface="Calibri"/>
                <a:cs typeface="Calibri"/>
              </a:rPr>
              <a:t>frame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13690" y="2599689"/>
            <a:ext cx="1795780" cy="881380"/>
            <a:chOff x="313690" y="2599689"/>
            <a:chExt cx="1795780" cy="881380"/>
          </a:xfrm>
        </p:grpSpPr>
        <p:sp>
          <p:nvSpPr>
            <p:cNvPr id="33" name="object 33" descr=""/>
            <p:cNvSpPr/>
            <p:nvPr/>
          </p:nvSpPr>
          <p:spPr>
            <a:xfrm>
              <a:off x="374904" y="2606039"/>
              <a:ext cx="1728470" cy="868680"/>
            </a:xfrm>
            <a:custGeom>
              <a:avLst/>
              <a:gdLst/>
              <a:ahLst/>
              <a:cxnLst/>
              <a:rect l="l" t="t" r="r" b="b"/>
              <a:pathLst>
                <a:path w="1728470" h="868679">
                  <a:moveTo>
                    <a:pt x="0" y="868680"/>
                  </a:moveTo>
                  <a:lnTo>
                    <a:pt x="1728215" y="868680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20040" y="2606039"/>
              <a:ext cx="1783080" cy="868680"/>
            </a:xfrm>
            <a:custGeom>
              <a:avLst/>
              <a:gdLst/>
              <a:ahLst/>
              <a:cxnLst/>
              <a:rect l="l" t="t" r="r" b="b"/>
              <a:pathLst>
                <a:path w="1783080" h="868679">
                  <a:moveTo>
                    <a:pt x="0" y="868680"/>
                  </a:moveTo>
                  <a:lnTo>
                    <a:pt x="1783080" y="868680"/>
                  </a:lnTo>
                  <a:lnTo>
                    <a:pt x="1783080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ln w="12699">
              <a:solidFill>
                <a:srgbClr val="C7D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20040" y="2606039"/>
              <a:ext cx="55244" cy="868680"/>
            </a:xfrm>
            <a:custGeom>
              <a:avLst/>
              <a:gdLst/>
              <a:ahLst/>
              <a:cxnLst/>
              <a:rect l="l" t="t" r="r" b="b"/>
              <a:pathLst>
                <a:path w="55245" h="868679">
                  <a:moveTo>
                    <a:pt x="54864" y="0"/>
                  </a:moveTo>
                  <a:lnTo>
                    <a:pt x="0" y="0"/>
                  </a:lnTo>
                  <a:lnTo>
                    <a:pt x="0" y="868680"/>
                  </a:lnTo>
                  <a:lnTo>
                    <a:pt x="54864" y="86868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20040" y="2606039"/>
              <a:ext cx="55244" cy="868680"/>
            </a:xfrm>
            <a:custGeom>
              <a:avLst/>
              <a:gdLst/>
              <a:ahLst/>
              <a:cxnLst/>
              <a:rect l="l" t="t" r="r" b="b"/>
              <a:pathLst>
                <a:path w="55245" h="868679">
                  <a:moveTo>
                    <a:pt x="0" y="868680"/>
                  </a:moveTo>
                  <a:lnTo>
                    <a:pt x="54864" y="86868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81254" y="2628602"/>
            <a:ext cx="1715770" cy="62039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685"/>
              </a:spcBef>
            </a:pPr>
            <a:r>
              <a:rPr dirty="0" sz="1100" spc="-10" b="1">
                <a:solidFill>
                  <a:srgbClr val="0D3A5E"/>
                </a:solidFill>
                <a:latin typeface="Calibri"/>
                <a:cs typeface="Calibri"/>
              </a:rPr>
              <a:t>Frames</a:t>
            </a:r>
            <a:endParaRPr sz="1100">
              <a:latin typeface="Calibri"/>
              <a:cs typeface="Calibri"/>
            </a:endParaRPr>
          </a:p>
          <a:p>
            <a:pPr marL="48260" marR="788670">
              <a:lnSpc>
                <a:spcPct val="100000"/>
              </a:lnSpc>
              <a:spcBef>
                <a:spcPts val="495"/>
              </a:spcBef>
            </a:pPr>
            <a:r>
              <a:rPr dirty="0" sz="950">
                <a:solidFill>
                  <a:srgbClr val="496178"/>
                </a:solidFill>
                <a:latin typeface="Calibri"/>
                <a:cs typeface="Calibri"/>
              </a:rPr>
              <a:t>Original</a:t>
            </a:r>
            <a:r>
              <a:rPr dirty="0" sz="950" spc="-3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496178"/>
                </a:solidFill>
                <a:latin typeface="Calibri"/>
                <a:cs typeface="Calibri"/>
              </a:rPr>
              <a:t>extracted frames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205230" y="2416810"/>
            <a:ext cx="3007360" cy="1064260"/>
            <a:chOff x="1205230" y="2416810"/>
            <a:chExt cx="3007360" cy="1064260"/>
          </a:xfrm>
        </p:grpSpPr>
        <p:sp>
          <p:nvSpPr>
            <p:cNvPr id="39" name="object 39" descr=""/>
            <p:cNvSpPr/>
            <p:nvPr/>
          </p:nvSpPr>
          <p:spPr>
            <a:xfrm>
              <a:off x="1211580" y="2423160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80">
                  <a:moveTo>
                    <a:pt x="0" y="0"/>
                  </a:moveTo>
                  <a:lnTo>
                    <a:pt x="0" y="182879"/>
                  </a:lnTo>
                </a:path>
              </a:pathLst>
            </a:custGeom>
            <a:ln w="12700">
              <a:solidFill>
                <a:srgbClr val="AACCD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478024" y="2606040"/>
              <a:ext cx="1728470" cy="868680"/>
            </a:xfrm>
            <a:custGeom>
              <a:avLst/>
              <a:gdLst/>
              <a:ahLst/>
              <a:cxnLst/>
              <a:rect l="l" t="t" r="r" b="b"/>
              <a:pathLst>
                <a:path w="1728470" h="868679">
                  <a:moveTo>
                    <a:pt x="0" y="868680"/>
                  </a:moveTo>
                  <a:lnTo>
                    <a:pt x="1728216" y="868680"/>
                  </a:lnTo>
                  <a:lnTo>
                    <a:pt x="1728216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423160" y="2606040"/>
              <a:ext cx="1783080" cy="868680"/>
            </a:xfrm>
            <a:custGeom>
              <a:avLst/>
              <a:gdLst/>
              <a:ahLst/>
              <a:cxnLst/>
              <a:rect l="l" t="t" r="r" b="b"/>
              <a:pathLst>
                <a:path w="1783079" h="868679">
                  <a:moveTo>
                    <a:pt x="0" y="868680"/>
                  </a:moveTo>
                  <a:lnTo>
                    <a:pt x="1783080" y="868680"/>
                  </a:lnTo>
                  <a:lnTo>
                    <a:pt x="1783080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ln w="12700">
              <a:solidFill>
                <a:srgbClr val="C7D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423160" y="2606040"/>
              <a:ext cx="55244" cy="868680"/>
            </a:xfrm>
            <a:custGeom>
              <a:avLst/>
              <a:gdLst/>
              <a:ahLst/>
              <a:cxnLst/>
              <a:rect l="l" t="t" r="r" b="b"/>
              <a:pathLst>
                <a:path w="55244" h="868679">
                  <a:moveTo>
                    <a:pt x="54863" y="0"/>
                  </a:moveTo>
                  <a:lnTo>
                    <a:pt x="0" y="0"/>
                  </a:lnTo>
                  <a:lnTo>
                    <a:pt x="0" y="868680"/>
                  </a:lnTo>
                  <a:lnTo>
                    <a:pt x="54863" y="86868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423160" y="2606040"/>
              <a:ext cx="55244" cy="868680"/>
            </a:xfrm>
            <a:custGeom>
              <a:avLst/>
              <a:gdLst/>
              <a:ahLst/>
              <a:cxnLst/>
              <a:rect l="l" t="t" r="r" b="b"/>
              <a:pathLst>
                <a:path w="55244" h="868679">
                  <a:moveTo>
                    <a:pt x="0" y="868680"/>
                  </a:moveTo>
                  <a:lnTo>
                    <a:pt x="54863" y="86868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2484373" y="2628602"/>
            <a:ext cx="1715770" cy="62039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685"/>
              </a:spcBef>
            </a:pPr>
            <a:r>
              <a:rPr dirty="0" sz="1100" spc="-10" b="1">
                <a:solidFill>
                  <a:srgbClr val="0D3A5E"/>
                </a:solidFill>
                <a:latin typeface="Calibri"/>
                <a:cs typeface="Calibri"/>
              </a:rPr>
              <a:t>Enhanced</a:t>
            </a:r>
            <a:endParaRPr sz="1100">
              <a:latin typeface="Calibri"/>
              <a:cs typeface="Calibri"/>
            </a:endParaRPr>
          </a:p>
          <a:p>
            <a:pPr marL="48260" marR="789305">
              <a:lnSpc>
                <a:spcPct val="100000"/>
              </a:lnSpc>
              <a:spcBef>
                <a:spcPts val="495"/>
              </a:spcBef>
            </a:pPr>
            <a:r>
              <a:rPr dirty="0" sz="950" spc="-10">
                <a:solidFill>
                  <a:srgbClr val="496178"/>
                </a:solidFill>
                <a:latin typeface="Calibri"/>
                <a:cs typeface="Calibri"/>
              </a:rPr>
              <a:t>5-</a:t>
            </a:r>
            <a:r>
              <a:rPr dirty="0" sz="950">
                <a:solidFill>
                  <a:srgbClr val="496178"/>
                </a:solidFill>
                <a:latin typeface="Calibri"/>
                <a:cs typeface="Calibri"/>
              </a:rPr>
              <a:t>stage</a:t>
            </a:r>
            <a:r>
              <a:rPr dirty="0" sz="950" spc="-1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496178"/>
                </a:solidFill>
                <a:latin typeface="Calibri"/>
                <a:cs typeface="Calibri"/>
              </a:rPr>
              <a:t>enhanced </a:t>
            </a:r>
            <a:r>
              <a:rPr dirty="0" sz="950">
                <a:solidFill>
                  <a:srgbClr val="496178"/>
                </a:solidFill>
                <a:latin typeface="Calibri"/>
                <a:cs typeface="Calibri"/>
              </a:rPr>
              <a:t>grayscale</a:t>
            </a:r>
            <a:r>
              <a:rPr dirty="0" sz="950" spc="-3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496178"/>
                </a:solidFill>
                <a:latin typeface="Calibri"/>
                <a:cs typeface="Calibri"/>
              </a:rPr>
              <a:t>frames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3308350" y="2416810"/>
            <a:ext cx="3007360" cy="1064260"/>
            <a:chOff x="3308350" y="2416810"/>
            <a:chExt cx="3007360" cy="1064260"/>
          </a:xfrm>
        </p:grpSpPr>
        <p:sp>
          <p:nvSpPr>
            <p:cNvPr id="46" name="object 46" descr=""/>
            <p:cNvSpPr/>
            <p:nvPr/>
          </p:nvSpPr>
          <p:spPr>
            <a:xfrm>
              <a:off x="3314700" y="2423160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80">
                  <a:moveTo>
                    <a:pt x="0" y="0"/>
                  </a:moveTo>
                  <a:lnTo>
                    <a:pt x="0" y="182879"/>
                  </a:lnTo>
                </a:path>
              </a:pathLst>
            </a:custGeom>
            <a:ln w="12700">
              <a:solidFill>
                <a:srgbClr val="AACCD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581144" y="2606040"/>
              <a:ext cx="1728470" cy="868680"/>
            </a:xfrm>
            <a:custGeom>
              <a:avLst/>
              <a:gdLst/>
              <a:ahLst/>
              <a:cxnLst/>
              <a:rect l="l" t="t" r="r" b="b"/>
              <a:pathLst>
                <a:path w="1728470" h="868679">
                  <a:moveTo>
                    <a:pt x="0" y="868680"/>
                  </a:moveTo>
                  <a:lnTo>
                    <a:pt x="1728215" y="868680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526280" y="2606040"/>
              <a:ext cx="1783080" cy="868680"/>
            </a:xfrm>
            <a:custGeom>
              <a:avLst/>
              <a:gdLst/>
              <a:ahLst/>
              <a:cxnLst/>
              <a:rect l="l" t="t" r="r" b="b"/>
              <a:pathLst>
                <a:path w="1783079" h="868679">
                  <a:moveTo>
                    <a:pt x="0" y="868680"/>
                  </a:moveTo>
                  <a:lnTo>
                    <a:pt x="1783079" y="868680"/>
                  </a:lnTo>
                  <a:lnTo>
                    <a:pt x="1783079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ln w="12700">
              <a:solidFill>
                <a:srgbClr val="C7D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526280" y="2606040"/>
              <a:ext cx="55244" cy="868680"/>
            </a:xfrm>
            <a:custGeom>
              <a:avLst/>
              <a:gdLst/>
              <a:ahLst/>
              <a:cxnLst/>
              <a:rect l="l" t="t" r="r" b="b"/>
              <a:pathLst>
                <a:path w="55245" h="868679">
                  <a:moveTo>
                    <a:pt x="54863" y="0"/>
                  </a:moveTo>
                  <a:lnTo>
                    <a:pt x="0" y="0"/>
                  </a:lnTo>
                  <a:lnTo>
                    <a:pt x="0" y="868680"/>
                  </a:lnTo>
                  <a:lnTo>
                    <a:pt x="54863" y="86868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526280" y="2606040"/>
              <a:ext cx="55244" cy="868680"/>
            </a:xfrm>
            <a:custGeom>
              <a:avLst/>
              <a:gdLst/>
              <a:ahLst/>
              <a:cxnLst/>
              <a:rect l="l" t="t" r="r" b="b"/>
              <a:pathLst>
                <a:path w="55245" h="868679">
                  <a:moveTo>
                    <a:pt x="0" y="868680"/>
                  </a:moveTo>
                  <a:lnTo>
                    <a:pt x="54863" y="86868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4587494" y="2628602"/>
            <a:ext cx="1715770" cy="62039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685"/>
              </a:spcBef>
            </a:pPr>
            <a:r>
              <a:rPr dirty="0" sz="1100" spc="-10" b="1">
                <a:solidFill>
                  <a:srgbClr val="0D3A5E"/>
                </a:solidFill>
                <a:latin typeface="Calibri"/>
                <a:cs typeface="Calibri"/>
              </a:rPr>
              <a:t>Segmented</a:t>
            </a:r>
            <a:endParaRPr sz="1100">
              <a:latin typeface="Calibri"/>
              <a:cs typeface="Calibri"/>
            </a:endParaRPr>
          </a:p>
          <a:p>
            <a:pPr marL="48895" marR="930910">
              <a:lnSpc>
                <a:spcPct val="100000"/>
              </a:lnSpc>
              <a:spcBef>
                <a:spcPts val="495"/>
              </a:spcBef>
            </a:pPr>
            <a:r>
              <a:rPr dirty="0" sz="950">
                <a:solidFill>
                  <a:srgbClr val="496178"/>
                </a:solidFill>
                <a:latin typeface="Calibri"/>
                <a:cs typeface="Calibri"/>
              </a:rPr>
              <a:t>Binary</a:t>
            </a:r>
            <a:r>
              <a:rPr dirty="0" sz="950" spc="-3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496178"/>
                </a:solidFill>
                <a:latin typeface="Calibri"/>
                <a:cs typeface="Calibri"/>
              </a:rPr>
              <a:t>damage </a:t>
            </a:r>
            <a:r>
              <a:rPr dirty="0" sz="950">
                <a:solidFill>
                  <a:srgbClr val="496178"/>
                </a:solidFill>
                <a:latin typeface="Calibri"/>
                <a:cs typeface="Calibri"/>
              </a:rPr>
              <a:t>mask</a:t>
            </a:r>
            <a:r>
              <a:rPr dirty="0" sz="950" spc="-2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496178"/>
                </a:solidFill>
                <a:latin typeface="Calibri"/>
                <a:cs typeface="Calibri"/>
              </a:rPr>
              <a:t>images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5411470" y="2416810"/>
            <a:ext cx="3007360" cy="1064260"/>
            <a:chOff x="5411470" y="2416810"/>
            <a:chExt cx="3007360" cy="1064260"/>
          </a:xfrm>
        </p:grpSpPr>
        <p:sp>
          <p:nvSpPr>
            <p:cNvPr id="53" name="object 53" descr=""/>
            <p:cNvSpPr/>
            <p:nvPr/>
          </p:nvSpPr>
          <p:spPr>
            <a:xfrm>
              <a:off x="5417820" y="2423160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80">
                  <a:moveTo>
                    <a:pt x="0" y="0"/>
                  </a:moveTo>
                  <a:lnTo>
                    <a:pt x="0" y="182879"/>
                  </a:lnTo>
                </a:path>
              </a:pathLst>
            </a:custGeom>
            <a:ln w="12700">
              <a:solidFill>
                <a:srgbClr val="AACCD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684264" y="2606040"/>
              <a:ext cx="1728470" cy="868680"/>
            </a:xfrm>
            <a:custGeom>
              <a:avLst/>
              <a:gdLst/>
              <a:ahLst/>
              <a:cxnLst/>
              <a:rect l="l" t="t" r="r" b="b"/>
              <a:pathLst>
                <a:path w="1728470" h="868679">
                  <a:moveTo>
                    <a:pt x="0" y="868680"/>
                  </a:moveTo>
                  <a:lnTo>
                    <a:pt x="1728215" y="868680"/>
                  </a:lnTo>
                  <a:lnTo>
                    <a:pt x="1728215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629400" y="2606040"/>
              <a:ext cx="1783080" cy="868680"/>
            </a:xfrm>
            <a:custGeom>
              <a:avLst/>
              <a:gdLst/>
              <a:ahLst/>
              <a:cxnLst/>
              <a:rect l="l" t="t" r="r" b="b"/>
              <a:pathLst>
                <a:path w="1783079" h="868679">
                  <a:moveTo>
                    <a:pt x="0" y="868680"/>
                  </a:moveTo>
                  <a:lnTo>
                    <a:pt x="1783079" y="868680"/>
                  </a:lnTo>
                  <a:lnTo>
                    <a:pt x="1783079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ln w="12700">
              <a:solidFill>
                <a:srgbClr val="C7D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629400" y="2606040"/>
              <a:ext cx="55244" cy="868680"/>
            </a:xfrm>
            <a:custGeom>
              <a:avLst/>
              <a:gdLst/>
              <a:ahLst/>
              <a:cxnLst/>
              <a:rect l="l" t="t" r="r" b="b"/>
              <a:pathLst>
                <a:path w="55245" h="868679">
                  <a:moveTo>
                    <a:pt x="54864" y="0"/>
                  </a:moveTo>
                  <a:lnTo>
                    <a:pt x="0" y="0"/>
                  </a:lnTo>
                  <a:lnTo>
                    <a:pt x="0" y="868680"/>
                  </a:lnTo>
                  <a:lnTo>
                    <a:pt x="54864" y="86868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629400" y="2606040"/>
              <a:ext cx="55244" cy="868680"/>
            </a:xfrm>
            <a:custGeom>
              <a:avLst/>
              <a:gdLst/>
              <a:ahLst/>
              <a:cxnLst/>
              <a:rect l="l" t="t" r="r" b="b"/>
              <a:pathLst>
                <a:path w="55245" h="868679">
                  <a:moveTo>
                    <a:pt x="0" y="868680"/>
                  </a:moveTo>
                  <a:lnTo>
                    <a:pt x="54864" y="86868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868680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6690614" y="2628602"/>
            <a:ext cx="1715770" cy="62039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685"/>
              </a:spcBef>
            </a:pPr>
            <a:r>
              <a:rPr dirty="0" sz="1100" spc="-10" b="1">
                <a:solidFill>
                  <a:srgbClr val="0D3A5E"/>
                </a:solidFill>
                <a:latin typeface="Calibri"/>
                <a:cs typeface="Calibri"/>
              </a:rPr>
              <a:t>Final_Output</a:t>
            </a:r>
            <a:endParaRPr sz="1100">
              <a:latin typeface="Calibri"/>
              <a:cs typeface="Calibri"/>
            </a:endParaRPr>
          </a:p>
          <a:p>
            <a:pPr marL="48895" marR="844550">
              <a:lnSpc>
                <a:spcPct val="100000"/>
              </a:lnSpc>
              <a:spcBef>
                <a:spcPts val="495"/>
              </a:spcBef>
            </a:pPr>
            <a:r>
              <a:rPr dirty="0" sz="950" spc="-10">
                <a:solidFill>
                  <a:srgbClr val="496178"/>
                </a:solidFill>
                <a:latin typeface="Calibri"/>
                <a:cs typeface="Calibri"/>
              </a:rPr>
              <a:t>Contour-marked </a:t>
            </a:r>
            <a:r>
              <a:rPr dirty="0" sz="950">
                <a:solidFill>
                  <a:srgbClr val="496178"/>
                </a:solidFill>
                <a:latin typeface="Calibri"/>
                <a:cs typeface="Calibri"/>
              </a:rPr>
              <a:t>final</a:t>
            </a:r>
            <a:r>
              <a:rPr dirty="0" sz="950" spc="-20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496178"/>
                </a:solidFill>
                <a:latin typeface="Calibri"/>
                <a:cs typeface="Calibri"/>
              </a:rPr>
              <a:t>images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7520940" y="2423160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80">
                <a:moveTo>
                  <a:pt x="0" y="0"/>
                </a:moveTo>
                <a:lnTo>
                  <a:pt x="0" y="182879"/>
                </a:lnTo>
              </a:path>
            </a:pathLst>
          </a:custGeom>
          <a:ln w="12700">
            <a:solidFill>
              <a:srgbClr val="AACCDD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313690" y="3559809"/>
            <a:ext cx="5041900" cy="1384300"/>
          </a:xfrm>
          <a:prstGeom prst="rect">
            <a:avLst/>
          </a:prstGeom>
          <a:solidFill>
            <a:srgbClr val="1A2E45"/>
          </a:solidFill>
          <a:ln w="3175">
            <a:solidFill>
              <a:srgbClr val="1A2E45"/>
            </a:solidFill>
          </a:ln>
        </p:spPr>
        <p:txBody>
          <a:bodyPr wrap="square" lIns="0" tIns="106045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835"/>
              </a:spcBef>
              <a:tabLst>
                <a:tab pos="1590675" algn="l"/>
              </a:tabLst>
            </a:pPr>
            <a:r>
              <a:rPr dirty="0" sz="1000" b="1">
                <a:solidFill>
                  <a:srgbClr val="E89F1F"/>
                </a:solidFill>
                <a:latin typeface="Courier New"/>
                <a:cs typeface="Courier New"/>
              </a:rPr>
              <a:t>Key</a:t>
            </a:r>
            <a:r>
              <a:rPr dirty="0" sz="1000" spc="-35" b="1">
                <a:solidFill>
                  <a:srgbClr val="E89F1F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E89F1F"/>
                </a:solidFill>
                <a:latin typeface="Courier New"/>
                <a:cs typeface="Courier New"/>
              </a:rPr>
              <a:t>Pipeline</a:t>
            </a:r>
            <a:r>
              <a:rPr dirty="0" sz="1000" spc="-35" b="1">
                <a:solidFill>
                  <a:srgbClr val="E89F1F"/>
                </a:solidFill>
                <a:latin typeface="Courier New"/>
                <a:cs typeface="Courier New"/>
              </a:rPr>
              <a:t> </a:t>
            </a:r>
            <a:r>
              <a:rPr dirty="0" sz="1000" spc="-20" b="1">
                <a:solidFill>
                  <a:srgbClr val="E89F1F"/>
                </a:solidFill>
                <a:latin typeface="Courier New"/>
                <a:cs typeface="Courier New"/>
              </a:rPr>
              <a:t>Loop</a:t>
            </a:r>
            <a:r>
              <a:rPr dirty="0" sz="1000" b="1">
                <a:solidFill>
                  <a:srgbClr val="E89F1F"/>
                </a:solidFill>
                <a:latin typeface="Courier New"/>
                <a:cs typeface="Courier New"/>
              </a:rPr>
              <a:t>	</a:t>
            </a:r>
            <a:r>
              <a:rPr dirty="0" sz="1000" spc="-10" b="1">
                <a:solidFill>
                  <a:srgbClr val="E89F1F"/>
                </a:solidFill>
                <a:latin typeface="Courier New"/>
                <a:cs typeface="Courier New"/>
              </a:rPr>
              <a:t>(integrated_code.py)</a:t>
            </a:r>
            <a:endParaRPr sz="1000">
              <a:latin typeface="Courier New"/>
              <a:cs typeface="Courier New"/>
            </a:endParaRPr>
          </a:p>
          <a:p>
            <a:pPr marL="143510">
              <a:lnSpc>
                <a:spcPct val="100000"/>
              </a:lnSpc>
              <a:spcBef>
                <a:spcPts val="590"/>
              </a:spcBef>
            </a:pP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while</a:t>
            </a:r>
            <a:r>
              <a:rPr dirty="0" sz="900" spc="-2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7DC7E2"/>
                </a:solidFill>
                <a:latin typeface="Courier New"/>
                <a:cs typeface="Courier New"/>
              </a:rPr>
              <a:t>True:</a:t>
            </a:r>
            <a:endParaRPr sz="900">
              <a:latin typeface="Courier New"/>
              <a:cs typeface="Courier New"/>
            </a:endParaRPr>
          </a:p>
          <a:p>
            <a:pPr marL="417830" marR="1271905">
              <a:lnSpc>
                <a:spcPct val="100000"/>
              </a:lnSpc>
              <a:tabLst>
                <a:tab pos="2874645" algn="l"/>
              </a:tabLst>
            </a:pP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frame</a:t>
            </a:r>
            <a:r>
              <a:rPr dirty="0" sz="900" spc="-2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=</a:t>
            </a:r>
            <a:r>
              <a:rPr dirty="0" sz="900" spc="-2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7DC7E2"/>
                </a:solidFill>
                <a:latin typeface="Courier New"/>
                <a:cs typeface="Courier New"/>
              </a:rPr>
              <a:t>cap.read()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	#</a:t>
            </a:r>
            <a:r>
              <a:rPr dirty="0" sz="900" spc="-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7DC7E2"/>
                </a:solidFill>
                <a:latin typeface="Courier New"/>
                <a:cs typeface="Courier New"/>
              </a:rPr>
              <a:t>extract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enhanced</a:t>
            </a:r>
            <a:r>
              <a:rPr dirty="0" sz="900" spc="-3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=</a:t>
            </a:r>
            <a:r>
              <a:rPr dirty="0" sz="900" spc="-30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7DC7E2"/>
                </a:solidFill>
                <a:latin typeface="Courier New"/>
                <a:cs typeface="Courier New"/>
              </a:rPr>
              <a:t>enhance_frame(frame)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	#</a:t>
            </a:r>
            <a:r>
              <a:rPr dirty="0" sz="900" spc="-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7DC7E2"/>
                </a:solidFill>
                <a:latin typeface="Courier New"/>
                <a:cs typeface="Courier New"/>
              </a:rPr>
              <a:t>enhance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mask</a:t>
            </a:r>
            <a:r>
              <a:rPr dirty="0" sz="900" spc="-30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=</a:t>
            </a:r>
            <a:r>
              <a:rPr dirty="0" sz="900" spc="-2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7DC7E2"/>
                </a:solidFill>
                <a:latin typeface="Courier New"/>
                <a:cs typeface="Courier New"/>
              </a:rPr>
              <a:t>get_segmentation_mask(...)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	#</a:t>
            </a:r>
            <a:r>
              <a:rPr dirty="0" sz="900" spc="-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7DC7E2"/>
                </a:solidFill>
                <a:latin typeface="Courier New"/>
                <a:cs typeface="Courier New"/>
              </a:rPr>
              <a:t>segment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marked</a:t>
            </a:r>
            <a:r>
              <a:rPr dirty="0" sz="900" spc="-4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=</a:t>
            </a:r>
            <a:r>
              <a:rPr dirty="0" sz="900" spc="-20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7DC7E2"/>
                </a:solidFill>
                <a:latin typeface="Courier New"/>
                <a:cs typeface="Courier New"/>
              </a:rPr>
              <a:t>draw_damage_contours(...)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	#</a:t>
            </a:r>
            <a:r>
              <a:rPr dirty="0" sz="900" spc="-30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mark</a:t>
            </a:r>
            <a:r>
              <a:rPr dirty="0" sz="900" spc="-1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7DC7E2"/>
                </a:solidFill>
                <a:latin typeface="Courier New"/>
                <a:cs typeface="Courier New"/>
              </a:rPr>
              <a:t>&amp;</a:t>
            </a:r>
            <a:r>
              <a:rPr dirty="0" sz="900" spc="-15">
                <a:solidFill>
                  <a:srgbClr val="7DC7E2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7DC7E2"/>
                </a:solidFill>
                <a:latin typeface="Courier New"/>
                <a:cs typeface="Courier New"/>
              </a:rPr>
              <a:t>save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5571490" y="3559809"/>
            <a:ext cx="3441700" cy="1384300"/>
            <a:chOff x="5571490" y="3559809"/>
            <a:chExt cx="3441700" cy="1384300"/>
          </a:xfrm>
        </p:grpSpPr>
        <p:sp>
          <p:nvSpPr>
            <p:cNvPr id="62" name="object 62" descr=""/>
            <p:cNvSpPr/>
            <p:nvPr/>
          </p:nvSpPr>
          <p:spPr>
            <a:xfrm>
              <a:off x="5577840" y="3566159"/>
              <a:ext cx="3429000" cy="1371600"/>
            </a:xfrm>
            <a:custGeom>
              <a:avLst/>
              <a:gdLst/>
              <a:ahLst/>
              <a:cxnLst/>
              <a:rect l="l" t="t" r="r" b="b"/>
              <a:pathLst>
                <a:path w="3429000" h="1371600">
                  <a:moveTo>
                    <a:pt x="3429000" y="0"/>
                  </a:moveTo>
                  <a:lnTo>
                    <a:pt x="0" y="0"/>
                  </a:lnTo>
                  <a:lnTo>
                    <a:pt x="0" y="1371599"/>
                  </a:lnTo>
                  <a:lnTo>
                    <a:pt x="3429000" y="1371599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577840" y="3566159"/>
              <a:ext cx="3429000" cy="1371600"/>
            </a:xfrm>
            <a:custGeom>
              <a:avLst/>
              <a:gdLst/>
              <a:ahLst/>
              <a:cxnLst/>
              <a:rect l="l" t="t" r="r" b="b"/>
              <a:pathLst>
                <a:path w="3429000" h="1371600">
                  <a:moveTo>
                    <a:pt x="0" y="1371599"/>
                  </a:moveTo>
                  <a:lnTo>
                    <a:pt x="3429000" y="1371599"/>
                  </a:lnTo>
                  <a:lnTo>
                    <a:pt x="3429000" y="0"/>
                  </a:lnTo>
                  <a:lnTo>
                    <a:pt x="0" y="0"/>
                  </a:lnTo>
                  <a:lnTo>
                    <a:pt x="0" y="1371599"/>
                  </a:lnTo>
                  <a:close/>
                </a:path>
              </a:pathLst>
            </a:custGeom>
            <a:ln w="12700">
              <a:solidFill>
                <a:srgbClr val="C7D7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5715889" y="3662934"/>
            <a:ext cx="3089275" cy="1185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3A5E"/>
                </a:solidFill>
                <a:latin typeface="Calibri"/>
                <a:cs typeface="Calibri"/>
              </a:rPr>
              <a:t>Pipeline</a:t>
            </a:r>
            <a:r>
              <a:rPr dirty="0" sz="1100" spc="-40" b="1">
                <a:solidFill>
                  <a:srgbClr val="0D3A5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3A5E"/>
                </a:solidFill>
                <a:latin typeface="Calibri"/>
                <a:cs typeface="Calibri"/>
              </a:rPr>
              <a:t>Statistics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tabLst>
                <a:tab pos="1096645" algn="l"/>
              </a:tabLst>
            </a:pPr>
            <a:r>
              <a:rPr dirty="0" sz="900" b="1">
                <a:solidFill>
                  <a:srgbClr val="0D3A5E"/>
                </a:solidFill>
                <a:latin typeface="Calibri"/>
                <a:cs typeface="Calibri"/>
              </a:rPr>
              <a:t>Frame</a:t>
            </a:r>
            <a:r>
              <a:rPr dirty="0" sz="900" spc="-35" b="1">
                <a:solidFill>
                  <a:srgbClr val="0D3A5E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D3A5E"/>
                </a:solidFill>
                <a:latin typeface="Calibri"/>
                <a:cs typeface="Calibri"/>
              </a:rPr>
              <a:t>Interval:</a:t>
            </a:r>
            <a:r>
              <a:rPr dirty="0" sz="900" b="1">
                <a:solidFill>
                  <a:srgbClr val="0D3A5E"/>
                </a:solidFill>
                <a:latin typeface="Calibri"/>
                <a:cs typeface="Calibri"/>
              </a:rPr>
              <a:t>	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Every</a:t>
            </a:r>
            <a:r>
              <a:rPr dirty="0" sz="900" spc="-10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10th</a:t>
            </a:r>
            <a:r>
              <a:rPr dirty="0" sz="900" spc="-1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6178"/>
                </a:solidFill>
                <a:latin typeface="Calibri"/>
                <a:cs typeface="Calibri"/>
              </a:rPr>
              <a:t>frame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tabLst>
                <a:tab pos="1096645" algn="l"/>
              </a:tabLst>
            </a:pPr>
            <a:r>
              <a:rPr dirty="0" sz="900" b="1">
                <a:solidFill>
                  <a:srgbClr val="0D3A5E"/>
                </a:solidFill>
                <a:latin typeface="Calibri"/>
                <a:cs typeface="Calibri"/>
              </a:rPr>
              <a:t>Output</a:t>
            </a:r>
            <a:r>
              <a:rPr dirty="0" sz="900" spc="-25" b="1">
                <a:solidFill>
                  <a:srgbClr val="0D3A5E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D3A5E"/>
                </a:solidFill>
                <a:latin typeface="Calibri"/>
                <a:cs typeface="Calibri"/>
              </a:rPr>
              <a:t>Folders:</a:t>
            </a:r>
            <a:r>
              <a:rPr dirty="0" sz="900" b="1">
                <a:solidFill>
                  <a:srgbClr val="0D3A5E"/>
                </a:solidFill>
                <a:latin typeface="Calibri"/>
                <a:cs typeface="Calibri"/>
              </a:rPr>
              <a:t>	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4</a:t>
            </a:r>
            <a:r>
              <a:rPr dirty="0" sz="900" spc="-3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(Frames</a:t>
            </a:r>
            <a:r>
              <a:rPr dirty="0" sz="900" spc="-20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/</a:t>
            </a:r>
            <a:r>
              <a:rPr dirty="0" sz="900" spc="-3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Enhanced</a:t>
            </a:r>
            <a:r>
              <a:rPr dirty="0" sz="900" spc="-1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/</a:t>
            </a:r>
            <a:r>
              <a:rPr dirty="0" sz="900" spc="-2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Segmented</a:t>
            </a:r>
            <a:r>
              <a:rPr dirty="0" sz="900" spc="10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/</a:t>
            </a:r>
            <a:r>
              <a:rPr dirty="0" sz="900" spc="-3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6178"/>
                </a:solidFill>
                <a:latin typeface="Calibri"/>
                <a:cs typeface="Calibri"/>
              </a:rPr>
              <a:t>Final)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tabLst>
                <a:tab pos="1096645" algn="l"/>
              </a:tabLst>
            </a:pPr>
            <a:r>
              <a:rPr dirty="0" sz="900" spc="-10" b="1">
                <a:solidFill>
                  <a:srgbClr val="0D3A5E"/>
                </a:solidFill>
                <a:latin typeface="Calibri"/>
                <a:cs typeface="Calibri"/>
              </a:rPr>
              <a:t>Format:</a:t>
            </a:r>
            <a:r>
              <a:rPr dirty="0" sz="900" b="1">
                <a:solidFill>
                  <a:srgbClr val="0D3A5E"/>
                </a:solidFill>
                <a:latin typeface="Calibri"/>
                <a:cs typeface="Calibri"/>
              </a:rPr>
              <a:t>	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JPEG</a:t>
            </a:r>
            <a:r>
              <a:rPr dirty="0" sz="900" spc="-3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·</a:t>
            </a:r>
            <a:r>
              <a:rPr dirty="0" sz="900" spc="-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Original</a:t>
            </a:r>
            <a:r>
              <a:rPr dirty="0" sz="900" spc="1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6178"/>
                </a:solidFill>
                <a:latin typeface="Calibri"/>
                <a:cs typeface="Calibri"/>
              </a:rPr>
              <a:t>resolution</a:t>
            </a:r>
            <a:r>
              <a:rPr dirty="0" sz="900" spc="1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6178"/>
                </a:solidFill>
                <a:latin typeface="Calibri"/>
                <a:cs typeface="Calibri"/>
              </a:rPr>
              <a:t>preserved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tabLst>
                <a:tab pos="1096645" algn="l"/>
              </a:tabLst>
            </a:pPr>
            <a:r>
              <a:rPr dirty="0" sz="900" spc="-10" b="1">
                <a:solidFill>
                  <a:srgbClr val="0D3A5E"/>
                </a:solidFill>
                <a:latin typeface="Calibri"/>
                <a:cs typeface="Calibri"/>
              </a:rPr>
              <a:t>Processing:</a:t>
            </a:r>
            <a:r>
              <a:rPr dirty="0" sz="900" b="1">
                <a:solidFill>
                  <a:srgbClr val="0D3A5E"/>
                </a:solidFill>
                <a:latin typeface="Calibri"/>
                <a:cs typeface="Calibri"/>
              </a:rPr>
              <a:t>	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Sequential</a:t>
            </a:r>
            <a:r>
              <a:rPr dirty="0" sz="900" spc="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6178"/>
                </a:solidFill>
                <a:latin typeface="Calibri"/>
                <a:cs typeface="Calibri"/>
              </a:rPr>
              <a:t>per-</a:t>
            </a:r>
            <a:r>
              <a:rPr dirty="0" sz="900">
                <a:solidFill>
                  <a:srgbClr val="496178"/>
                </a:solidFill>
                <a:latin typeface="Calibri"/>
                <a:cs typeface="Calibri"/>
              </a:rPr>
              <a:t>frame</a:t>
            </a:r>
            <a:r>
              <a:rPr dirty="0" sz="900" spc="-25">
                <a:solidFill>
                  <a:srgbClr val="49617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6178"/>
                </a:solidFill>
                <a:latin typeface="Calibri"/>
                <a:cs typeface="Calibri"/>
              </a:rPr>
              <a:t>pipeline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89267" y="739012"/>
            <a:ext cx="8344534" cy="4124325"/>
            <a:chOff x="389267" y="739012"/>
            <a:chExt cx="8344534" cy="4124325"/>
          </a:xfrm>
        </p:grpSpPr>
        <p:sp>
          <p:nvSpPr>
            <p:cNvPr id="3" name="object 3" descr=""/>
            <p:cNvSpPr/>
            <p:nvPr/>
          </p:nvSpPr>
          <p:spPr>
            <a:xfrm>
              <a:off x="414667" y="751712"/>
              <a:ext cx="8293734" cy="4086225"/>
            </a:xfrm>
            <a:custGeom>
              <a:avLst/>
              <a:gdLst/>
              <a:ahLst/>
              <a:cxnLst/>
              <a:rect l="l" t="t" r="r" b="b"/>
              <a:pathLst>
                <a:path w="8293734" h="4086225">
                  <a:moveTo>
                    <a:pt x="8293354" y="0"/>
                  </a:moveTo>
                  <a:lnTo>
                    <a:pt x="0" y="0"/>
                  </a:lnTo>
                  <a:lnTo>
                    <a:pt x="0" y="4086098"/>
                  </a:lnTo>
                  <a:lnTo>
                    <a:pt x="8293354" y="4086098"/>
                  </a:lnTo>
                  <a:lnTo>
                    <a:pt x="8293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08317" y="745362"/>
              <a:ext cx="8306434" cy="4111625"/>
            </a:xfrm>
            <a:custGeom>
              <a:avLst/>
              <a:gdLst/>
              <a:ahLst/>
              <a:cxnLst/>
              <a:rect l="l" t="t" r="r" b="b"/>
              <a:pathLst>
                <a:path w="8306434" h="4111625">
                  <a:moveTo>
                    <a:pt x="6350" y="0"/>
                  </a:moveTo>
                  <a:lnTo>
                    <a:pt x="6350" y="4111498"/>
                  </a:lnTo>
                </a:path>
                <a:path w="8306434" h="4111625">
                  <a:moveTo>
                    <a:pt x="8299691" y="0"/>
                  </a:moveTo>
                  <a:lnTo>
                    <a:pt x="8299691" y="4111498"/>
                  </a:lnTo>
                </a:path>
                <a:path w="8306434" h="4111625">
                  <a:moveTo>
                    <a:pt x="0" y="6350"/>
                  </a:moveTo>
                  <a:lnTo>
                    <a:pt x="8306041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8317" y="4837810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 h="0">
                  <a:moveTo>
                    <a:pt x="0" y="0"/>
                  </a:moveTo>
                  <a:lnTo>
                    <a:pt x="8306041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3431" y="1360931"/>
              <a:ext cx="879182" cy="156298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2567" y="1360931"/>
              <a:ext cx="879182" cy="156298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6899" y="1360931"/>
              <a:ext cx="879182" cy="156298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3431" y="3097085"/>
              <a:ext cx="879182" cy="156298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12693" y="3097085"/>
              <a:ext cx="879182" cy="156298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46899" y="3097085"/>
              <a:ext cx="879182" cy="156298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806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Visual</a:t>
            </a:r>
            <a:r>
              <a:rPr dirty="0" sz="2400" spc="-60"/>
              <a:t> </a:t>
            </a:r>
            <a:r>
              <a:rPr dirty="0" sz="2400" spc="-10"/>
              <a:t>Comparison</a:t>
            </a:r>
            <a:endParaRPr sz="2400"/>
          </a:p>
        </p:txBody>
      </p:sp>
      <p:sp>
        <p:nvSpPr>
          <p:cNvPr id="13" name="object 13" descr=""/>
          <p:cNvSpPr txBox="1"/>
          <p:nvPr/>
        </p:nvSpPr>
        <p:spPr>
          <a:xfrm>
            <a:off x="980643" y="861821"/>
            <a:ext cx="3307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6725" algn="l"/>
              </a:tabLst>
            </a:pPr>
            <a:r>
              <a:rPr dirty="0" sz="1800" b="1">
                <a:solidFill>
                  <a:srgbClr val="1A799C"/>
                </a:solidFill>
                <a:latin typeface="Calibri"/>
                <a:cs typeface="Calibri"/>
              </a:rPr>
              <a:t>Original</a:t>
            </a:r>
            <a:r>
              <a:rPr dirty="0" sz="1800" spc="-35" b="1">
                <a:solidFill>
                  <a:srgbClr val="1A799C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A799C"/>
                </a:solidFill>
                <a:latin typeface="Calibri"/>
                <a:cs typeface="Calibri"/>
              </a:rPr>
              <a:t>Image</a:t>
            </a:r>
            <a:r>
              <a:rPr dirty="0" sz="1800" b="1">
                <a:solidFill>
                  <a:srgbClr val="1A799C"/>
                </a:solidFill>
                <a:latin typeface="Calibri"/>
                <a:cs typeface="Calibri"/>
              </a:rPr>
              <a:t>	Enhanced</a:t>
            </a:r>
            <a:r>
              <a:rPr dirty="0" sz="1800" spc="-25" b="1">
                <a:solidFill>
                  <a:srgbClr val="1A799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A799C"/>
                </a:solidFill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81927" y="872109"/>
            <a:ext cx="1210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799C"/>
                </a:solidFill>
                <a:latin typeface="Calibri"/>
                <a:cs typeface="Calibri"/>
              </a:rPr>
              <a:t>Final</a:t>
            </a:r>
            <a:r>
              <a:rPr dirty="0" sz="1800" spc="-20" b="1">
                <a:solidFill>
                  <a:srgbClr val="1A799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A799C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743069" y="877570"/>
            <a:ext cx="172021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799C"/>
                </a:solidFill>
                <a:latin typeface="Calibri"/>
                <a:cs typeface="Calibri"/>
              </a:rPr>
              <a:t>Segmented</a:t>
            </a:r>
            <a:r>
              <a:rPr dirty="0" sz="1800" spc="-25" b="1">
                <a:solidFill>
                  <a:srgbClr val="1A799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A799C"/>
                </a:solidFill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119370" y="1360932"/>
            <a:ext cx="879475" cy="3299460"/>
            <a:chOff x="5119370" y="1360932"/>
            <a:chExt cx="879475" cy="3299460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9370" y="1360932"/>
              <a:ext cx="879182" cy="156298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9370" y="3097085"/>
              <a:ext cx="879182" cy="1562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dirty="0" sz="2400" spc="-10"/>
              <a:t>Cont...</a:t>
            </a:r>
            <a:endParaRPr sz="2400"/>
          </a:p>
        </p:txBody>
      </p:sp>
      <p:grpSp>
        <p:nvGrpSpPr>
          <p:cNvPr id="3" name="object 3" descr=""/>
          <p:cNvGrpSpPr/>
          <p:nvPr/>
        </p:nvGrpSpPr>
        <p:grpSpPr>
          <a:xfrm>
            <a:off x="338759" y="710311"/>
            <a:ext cx="8458835" cy="4237990"/>
            <a:chOff x="338759" y="710311"/>
            <a:chExt cx="8458835" cy="4237990"/>
          </a:xfrm>
        </p:grpSpPr>
        <p:sp>
          <p:nvSpPr>
            <p:cNvPr id="4" name="object 4" descr=""/>
            <p:cNvSpPr/>
            <p:nvPr/>
          </p:nvSpPr>
          <p:spPr>
            <a:xfrm>
              <a:off x="364159" y="722985"/>
              <a:ext cx="8408035" cy="4199890"/>
            </a:xfrm>
            <a:custGeom>
              <a:avLst/>
              <a:gdLst/>
              <a:ahLst/>
              <a:cxnLst/>
              <a:rect l="l" t="t" r="r" b="b"/>
              <a:pathLst>
                <a:path w="8408035" h="4199890">
                  <a:moveTo>
                    <a:pt x="8407654" y="0"/>
                  </a:moveTo>
                  <a:lnTo>
                    <a:pt x="0" y="0"/>
                  </a:lnTo>
                  <a:lnTo>
                    <a:pt x="0" y="4199890"/>
                  </a:lnTo>
                  <a:lnTo>
                    <a:pt x="8407654" y="4199890"/>
                  </a:lnTo>
                  <a:lnTo>
                    <a:pt x="8407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57809" y="716661"/>
              <a:ext cx="8420735" cy="4225290"/>
            </a:xfrm>
            <a:custGeom>
              <a:avLst/>
              <a:gdLst/>
              <a:ahLst/>
              <a:cxnLst/>
              <a:rect l="l" t="t" r="r" b="b"/>
              <a:pathLst>
                <a:path w="8420735" h="4225290">
                  <a:moveTo>
                    <a:pt x="6350" y="0"/>
                  </a:moveTo>
                  <a:lnTo>
                    <a:pt x="6350" y="4225264"/>
                  </a:lnTo>
                </a:path>
                <a:path w="8420735" h="4225290">
                  <a:moveTo>
                    <a:pt x="8414080" y="0"/>
                  </a:moveTo>
                  <a:lnTo>
                    <a:pt x="8414080" y="4225264"/>
                  </a:lnTo>
                </a:path>
                <a:path w="8420735" h="4225290">
                  <a:moveTo>
                    <a:pt x="0" y="6350"/>
                  </a:moveTo>
                  <a:lnTo>
                    <a:pt x="8420430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57809" y="4922875"/>
              <a:ext cx="8420735" cy="0"/>
            </a:xfrm>
            <a:custGeom>
              <a:avLst/>
              <a:gdLst/>
              <a:ahLst/>
              <a:cxnLst/>
              <a:rect l="l" t="t" r="r" b="b"/>
              <a:pathLst>
                <a:path w="8420735" h="0">
                  <a:moveTo>
                    <a:pt x="0" y="0"/>
                  </a:moveTo>
                  <a:lnTo>
                    <a:pt x="842043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2159" y="1428115"/>
              <a:ext cx="835406" cy="148513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6973" y="1428115"/>
              <a:ext cx="835405" cy="148513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4271" y="1428115"/>
              <a:ext cx="835405" cy="148513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2159" y="3144253"/>
              <a:ext cx="835406" cy="148513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77388" y="3126016"/>
              <a:ext cx="835406" cy="148513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4271" y="3078924"/>
              <a:ext cx="835405" cy="1485138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937666" y="874903"/>
            <a:ext cx="1402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799C"/>
                </a:solidFill>
                <a:latin typeface="Calibri"/>
                <a:cs typeface="Calibri"/>
              </a:rPr>
              <a:t>Original</a:t>
            </a:r>
            <a:r>
              <a:rPr dirty="0" sz="1800" spc="-35" b="1">
                <a:solidFill>
                  <a:srgbClr val="1A799C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A799C"/>
                </a:solidFill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665222" y="874903"/>
            <a:ext cx="1583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799C"/>
                </a:solidFill>
                <a:latin typeface="Calibri"/>
                <a:cs typeface="Calibri"/>
              </a:rPr>
              <a:t>Enhanced</a:t>
            </a:r>
            <a:r>
              <a:rPr dirty="0" sz="1800" spc="-25" b="1">
                <a:solidFill>
                  <a:srgbClr val="1A799C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A799C"/>
                </a:solidFill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06310" y="890778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A799C"/>
                </a:solidFill>
                <a:latin typeface="Calibri"/>
                <a:cs typeface="Calibri"/>
              </a:rPr>
              <a:t>Final</a:t>
            </a:r>
            <a:r>
              <a:rPr dirty="0" sz="1800" spc="-15" b="1">
                <a:solidFill>
                  <a:srgbClr val="1A799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A799C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637913" y="887984"/>
            <a:ext cx="172021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A799C"/>
                </a:solidFill>
                <a:latin typeface="Calibri"/>
                <a:cs typeface="Calibri"/>
              </a:rPr>
              <a:t>Segmented</a:t>
            </a:r>
            <a:r>
              <a:rPr dirty="0" sz="1800" spc="-25" b="1">
                <a:solidFill>
                  <a:srgbClr val="1A799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A799C"/>
                </a:solidFill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064886" y="1428241"/>
            <a:ext cx="835660" cy="3183255"/>
            <a:chOff x="5064886" y="1428241"/>
            <a:chExt cx="835660" cy="3183255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64886" y="3126016"/>
              <a:ext cx="835406" cy="148513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64886" y="1428241"/>
              <a:ext cx="835406" cy="14851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Experimental</a:t>
            </a:r>
            <a:r>
              <a:rPr dirty="0" sz="2400" spc="-75"/>
              <a:t> </a:t>
            </a:r>
            <a:r>
              <a:rPr dirty="0" sz="2400" spc="-20"/>
              <a:t>Setup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8884666" y="20187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67970" y="765809"/>
          <a:ext cx="8684260" cy="1970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8945"/>
                <a:gridCol w="1718945"/>
                <a:gridCol w="1718944"/>
                <a:gridCol w="1718945"/>
                <a:gridCol w="1718945"/>
              </a:tblGrid>
              <a:tr h="462915">
                <a:tc gridSpan="5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</a:t>
                      </a:r>
                      <a:r>
                        <a:rPr dirty="0" sz="130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Summary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1A799C"/>
                      </a:solidFill>
                      <a:prstDash val="solid"/>
                    </a:lnL>
                    <a:lnR w="12700">
                      <a:solidFill>
                        <a:srgbClr val="1A799C"/>
                      </a:solidFill>
                      <a:prstDash val="solid"/>
                    </a:lnR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1A799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Video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Damage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Frames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Extracted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Frames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Conditions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V1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Crack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100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30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Mixed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lighting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V2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Pothole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120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35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Bright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shadow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V3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Patch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Failure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90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25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Uneven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illumination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V4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Edge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Cracking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70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30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Shadow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contrast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Total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 types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380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 b="1">
                          <a:latin typeface="Calibri"/>
                          <a:cs typeface="Calibri"/>
                        </a:rPr>
                        <a:t>120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b="1">
                          <a:latin typeface="Calibri"/>
                          <a:cs typeface="Calibri"/>
                        </a:rPr>
                        <a:t>Real-world</a:t>
                      </a:r>
                      <a:r>
                        <a:rPr dirty="0" sz="105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latin typeface="Calibri"/>
                          <a:cs typeface="Calibri"/>
                        </a:rPr>
                        <a:t>variation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2798062"/>
            <a:ext cx="4373118" cy="2324862"/>
          </a:xfrm>
          <a:prstGeom prst="rect">
            <a:avLst/>
          </a:prstGeom>
        </p:spPr>
      </p:pic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267970" y="2874010"/>
          <a:ext cx="4249420" cy="2110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4095"/>
                <a:gridCol w="1877059"/>
              </a:tblGrid>
              <a:tr h="410845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Enhancement</a:t>
                      </a:r>
                      <a:r>
                        <a:rPr dirty="0" sz="125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1A799C"/>
                      </a:solidFill>
                      <a:prstDash val="solid"/>
                    </a:lnL>
                    <a:lnR w="12700">
                      <a:solidFill>
                        <a:srgbClr val="1A799C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1A799C"/>
                      </a:solidFill>
                      <a:prstDash val="solid"/>
                    </a:lnB>
                    <a:solidFill>
                      <a:srgbClr val="1A799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941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Gaussian</a:t>
                      </a:r>
                      <a:r>
                        <a:rPr dirty="0" sz="1050" spc="-3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Kernel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L w="12700">
                      <a:solidFill>
                        <a:srgbClr val="E8F4F8"/>
                      </a:solidFill>
                      <a:prstDash val="solid"/>
                    </a:lnL>
                    <a:lnT w="12700">
                      <a:solidFill>
                        <a:srgbClr val="1A799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225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050" spc="-2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5×5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R w="12700">
                      <a:solidFill>
                        <a:srgbClr val="E8F4F8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Median</a:t>
                      </a:r>
                      <a:r>
                        <a:rPr dirty="0" sz="1050" spc="-3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Window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E8F4F8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22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5×5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E8F4F8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CLAHE</a:t>
                      </a:r>
                      <a:r>
                        <a:rPr dirty="0" sz="1050" spc="-3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Clip</a:t>
                      </a:r>
                      <a:r>
                        <a:rPr dirty="0" sz="1050" spc="-1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Limit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E8F4F8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22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2.0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E8F4F8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CLAHE</a:t>
                      </a:r>
                      <a:r>
                        <a:rPr dirty="0" sz="1050" spc="-2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Tile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Size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E8F4F8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22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8×8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E8F4F8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Illumination</a:t>
                      </a:r>
                      <a:r>
                        <a:rPr dirty="0" sz="1050" spc="-5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Kernel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E8F4F8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16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05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71×71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E8F4F8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Sharpen</a:t>
                      </a:r>
                      <a:r>
                        <a:rPr dirty="0" sz="1050" spc="-2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(α</a:t>
                      </a:r>
                      <a:r>
                        <a:rPr dirty="0" sz="1050" spc="-2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50" spc="-1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3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β)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E8F4F8"/>
                      </a:solidFill>
                      <a:prstDash val="solid"/>
                    </a:lnL>
                    <a:lnB w="12700">
                      <a:solidFill>
                        <a:srgbClr val="E8F4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28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2.0</a:t>
                      </a:r>
                      <a:r>
                        <a:rPr dirty="0" sz="1050" spc="-2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1050" spc="-2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−1.0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E8F4F8"/>
                      </a:solidFill>
                      <a:prstDash val="solid"/>
                    </a:lnR>
                    <a:lnB w="12700">
                      <a:solidFill>
                        <a:srgbClr val="E8F4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6279" y="2798062"/>
            <a:ext cx="4418837" cy="2324862"/>
          </a:xfrm>
          <a:prstGeom prst="rect">
            <a:avLst/>
          </a:prstGeom>
        </p:spPr>
      </p:pic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657090" y="2874010"/>
          <a:ext cx="4295140" cy="2110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2815"/>
                <a:gridCol w="2003425"/>
              </a:tblGrid>
              <a:tr h="41084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Segmentation</a:t>
                      </a:r>
                      <a:r>
                        <a:rPr dirty="0" sz="125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1A799C"/>
                      </a:solidFill>
                      <a:prstDash val="solid"/>
                    </a:lnL>
                    <a:lnR w="12700">
                      <a:solidFill>
                        <a:srgbClr val="1A799C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1A799C"/>
                      </a:solidFill>
                      <a:prstDash val="solid"/>
                    </a:lnB>
                    <a:solidFill>
                      <a:srgbClr val="1A799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9410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Enhancement</a:t>
                      </a:r>
                      <a:r>
                        <a:rPr dirty="0" sz="1050" spc="-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Blur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L w="12700">
                      <a:solidFill>
                        <a:srgbClr val="E8F4F8"/>
                      </a:solidFill>
                      <a:prstDash val="solid"/>
                    </a:lnL>
                    <a:lnT w="12700">
                      <a:solidFill>
                        <a:srgbClr val="1A799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890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5×5</a:t>
                      </a:r>
                      <a:r>
                        <a:rPr dirty="0" sz="1050" spc="-2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Gaussian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R w="12700">
                      <a:solidFill>
                        <a:srgbClr val="E8F4F8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Black-</a:t>
                      </a: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Hat</a:t>
                      </a:r>
                      <a:r>
                        <a:rPr dirty="0" sz="1050" spc="3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Kernel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E8F4F8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953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25×25</a:t>
                      </a:r>
                      <a:r>
                        <a:rPr dirty="0" sz="1050" spc="-3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rectangle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E8F4F8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Binary</a:t>
                      </a:r>
                      <a:r>
                        <a:rPr dirty="0" sz="1050" spc="-2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Threshold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E8F4F8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308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Pixel</a:t>
                      </a:r>
                      <a:r>
                        <a:rPr dirty="0" sz="105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050" spc="-4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35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E8F4F8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Morphological</a:t>
                      </a:r>
                      <a:r>
                        <a:rPr dirty="0" sz="1050" spc="5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Close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E8F4F8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301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5×5,</a:t>
                      </a:r>
                      <a:r>
                        <a:rPr dirty="0" sz="1050" spc="-2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05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iterations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E8F4F8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Min</a:t>
                      </a:r>
                      <a:r>
                        <a:rPr dirty="0" sz="1050" spc="-3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Filter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E8F4F8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953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0.08%</a:t>
                      </a:r>
                      <a:r>
                        <a:rPr dirty="0" sz="1050" spc="-3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50" spc="-1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frame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E8F4F8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1050" spc="-2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r>
                        <a:rPr dirty="0" sz="1050" spc="-25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1A2D38"/>
                          </a:solidFill>
                          <a:latin typeface="Calibri"/>
                          <a:cs typeface="Calibri"/>
                        </a:rPr>
                        <a:t>Filter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E8F4F8"/>
                      </a:solidFill>
                      <a:prstDash val="solid"/>
                    </a:lnL>
                    <a:lnB w="12700">
                      <a:solidFill>
                        <a:srgbClr val="E8F4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953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30%</a:t>
                      </a:r>
                      <a:r>
                        <a:rPr dirty="0" sz="1050" spc="-25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50" spc="-10" b="1">
                          <a:solidFill>
                            <a:srgbClr val="0A4F6C"/>
                          </a:solidFill>
                          <a:latin typeface="Calibri"/>
                          <a:cs typeface="Calibri"/>
                        </a:rPr>
                        <a:t> frame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E8F4F8"/>
                      </a:solidFill>
                      <a:prstDash val="solid"/>
                    </a:lnR>
                    <a:lnB w="12700">
                      <a:solidFill>
                        <a:srgbClr val="E8F4F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Results</a:t>
            </a:r>
            <a:r>
              <a:rPr dirty="0" sz="2400" spc="-30"/>
              <a:t> </a:t>
            </a:r>
            <a:r>
              <a:rPr dirty="0" sz="2400"/>
              <a:t>&amp;</a:t>
            </a:r>
            <a:r>
              <a:rPr dirty="0" sz="2400" spc="-25"/>
              <a:t> </a:t>
            </a:r>
            <a:r>
              <a:rPr dirty="0" sz="2400" spc="-10"/>
              <a:t>Evaluation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8884666" y="20187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67970" y="765809"/>
          <a:ext cx="8684260" cy="1832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2560"/>
                <a:gridCol w="1432560"/>
                <a:gridCol w="1432559"/>
                <a:gridCol w="1432560"/>
                <a:gridCol w="1432560"/>
                <a:gridCol w="1432559"/>
              </a:tblGrid>
              <a:tr h="462915">
                <a:tc gridSpan="6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Segmentation</a:t>
                      </a:r>
                      <a:r>
                        <a:rPr dirty="0" sz="12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dirty="0" sz="12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2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Damage</a:t>
                      </a:r>
                      <a:r>
                        <a:rPr dirty="0" sz="125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2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(120</a:t>
                      </a:r>
                      <a:r>
                        <a:rPr dirty="0" sz="12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2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frames)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1A799C"/>
                      </a:solidFill>
                      <a:prstDash val="solid"/>
                    </a:lnL>
                    <a:lnR w="12700">
                      <a:solidFill>
                        <a:srgbClr val="1A799C"/>
                      </a:solidFill>
                      <a:prstDash val="solid"/>
                    </a:lnR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1A799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Damage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Precision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Recall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F1-</a:t>
                      </a:r>
                      <a:r>
                        <a:rPr dirty="0" sz="10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IoU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1A799C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  <a:solidFill>
                      <a:srgbClr val="0A4F6C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Crack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0.92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0.90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0.84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0.89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0.78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Pothole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 b="1">
                          <a:solidFill>
                            <a:srgbClr val="1A8B4E"/>
                          </a:solidFill>
                          <a:latin typeface="Calibri"/>
                          <a:cs typeface="Calibri"/>
                        </a:rPr>
                        <a:t>0.95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 b="1">
                          <a:solidFill>
                            <a:srgbClr val="1A8B4E"/>
                          </a:solidFill>
                          <a:latin typeface="Calibri"/>
                          <a:cs typeface="Calibri"/>
                        </a:rPr>
                        <a:t>0.94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0.90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 b="1">
                          <a:solidFill>
                            <a:srgbClr val="1A8B4E"/>
                          </a:solidFill>
                          <a:latin typeface="Calibri"/>
                          <a:cs typeface="Calibri"/>
                        </a:rPr>
                        <a:t>0.93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 b="1">
                          <a:solidFill>
                            <a:srgbClr val="1A8B4E"/>
                          </a:solidFill>
                          <a:latin typeface="Calibri"/>
                          <a:cs typeface="Calibri"/>
                        </a:rPr>
                        <a:t>0.85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Patch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Failure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0.90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0.88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0.81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0.86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0.75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Edge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Cracking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0.91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0.89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0.80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0.87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0.76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DCE8EB"/>
                      </a:solidFill>
                      <a:prstDash val="solid"/>
                    </a:lnL>
                    <a:lnR w="12700">
                      <a:solidFill>
                        <a:srgbClr val="DCE8EB"/>
                      </a:solidFill>
                      <a:prstDash val="solid"/>
                    </a:lnR>
                    <a:lnT w="12700">
                      <a:solidFill>
                        <a:srgbClr val="DCE8EB"/>
                      </a:solidFill>
                      <a:prstDash val="solid"/>
                    </a:lnT>
                    <a:lnB w="12700">
                      <a:solidFill>
                        <a:srgbClr val="DCE8E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274320" y="2743200"/>
            <a:ext cx="5029200" cy="2148840"/>
            <a:chOff x="274320" y="2743200"/>
            <a:chExt cx="5029200" cy="2148840"/>
          </a:xfrm>
        </p:grpSpPr>
        <p:sp>
          <p:nvSpPr>
            <p:cNvPr id="6" name="object 6" descr=""/>
            <p:cNvSpPr/>
            <p:nvPr/>
          </p:nvSpPr>
          <p:spPr>
            <a:xfrm>
              <a:off x="274320" y="2743200"/>
              <a:ext cx="5029200" cy="2148840"/>
            </a:xfrm>
            <a:custGeom>
              <a:avLst/>
              <a:gdLst/>
              <a:ahLst/>
              <a:cxnLst/>
              <a:rect l="l" t="t" r="r" b="b"/>
              <a:pathLst>
                <a:path w="5029200" h="2148840">
                  <a:moveTo>
                    <a:pt x="49022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0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2021839"/>
                  </a:lnTo>
                  <a:lnTo>
                    <a:pt x="9980" y="2071274"/>
                  </a:lnTo>
                  <a:lnTo>
                    <a:pt x="37196" y="2111643"/>
                  </a:lnTo>
                  <a:lnTo>
                    <a:pt x="77565" y="2138859"/>
                  </a:lnTo>
                  <a:lnTo>
                    <a:pt x="127000" y="2148840"/>
                  </a:lnTo>
                  <a:lnTo>
                    <a:pt x="4902200" y="2148840"/>
                  </a:lnTo>
                  <a:lnTo>
                    <a:pt x="4951618" y="2138859"/>
                  </a:lnTo>
                  <a:lnTo>
                    <a:pt x="4991989" y="2111643"/>
                  </a:lnTo>
                  <a:lnTo>
                    <a:pt x="5019214" y="2071274"/>
                  </a:lnTo>
                  <a:lnTo>
                    <a:pt x="5029200" y="2021839"/>
                  </a:lnTo>
                  <a:lnTo>
                    <a:pt x="5029200" y="127000"/>
                  </a:lnTo>
                  <a:lnTo>
                    <a:pt x="5019214" y="77581"/>
                  </a:lnTo>
                  <a:lnTo>
                    <a:pt x="4991989" y="37211"/>
                  </a:lnTo>
                  <a:lnTo>
                    <a:pt x="4951618" y="9985"/>
                  </a:lnTo>
                  <a:lnTo>
                    <a:pt x="4902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99922" y="3166872"/>
              <a:ext cx="4464050" cy="859790"/>
            </a:xfrm>
            <a:custGeom>
              <a:avLst/>
              <a:gdLst/>
              <a:ahLst/>
              <a:cxnLst/>
              <a:rect l="l" t="t" r="r" b="b"/>
              <a:pathLst>
                <a:path w="4464050" h="859789">
                  <a:moveTo>
                    <a:pt x="0" y="859535"/>
                  </a:moveTo>
                  <a:lnTo>
                    <a:pt x="238861" y="859535"/>
                  </a:lnTo>
                </a:path>
                <a:path w="4464050" h="859789">
                  <a:moveTo>
                    <a:pt x="877417" y="859535"/>
                  </a:moveTo>
                  <a:lnTo>
                    <a:pt x="1354429" y="859535"/>
                  </a:lnTo>
                </a:path>
                <a:path w="4464050" h="859789">
                  <a:moveTo>
                    <a:pt x="1992985" y="859535"/>
                  </a:moveTo>
                  <a:lnTo>
                    <a:pt x="2471521" y="859535"/>
                  </a:lnTo>
                </a:path>
                <a:path w="4464050" h="859789">
                  <a:moveTo>
                    <a:pt x="3108553" y="859535"/>
                  </a:moveTo>
                  <a:lnTo>
                    <a:pt x="3587089" y="859535"/>
                  </a:lnTo>
                </a:path>
                <a:path w="4464050" h="859789">
                  <a:moveTo>
                    <a:pt x="4224121" y="859535"/>
                  </a:moveTo>
                  <a:lnTo>
                    <a:pt x="4463897" y="859535"/>
                  </a:lnTo>
                </a:path>
                <a:path w="4464050" h="859789">
                  <a:moveTo>
                    <a:pt x="0" y="644651"/>
                  </a:moveTo>
                  <a:lnTo>
                    <a:pt x="238861" y="644651"/>
                  </a:lnTo>
                </a:path>
                <a:path w="4464050" h="859789">
                  <a:moveTo>
                    <a:pt x="877417" y="644651"/>
                  </a:moveTo>
                  <a:lnTo>
                    <a:pt x="1354429" y="644651"/>
                  </a:lnTo>
                </a:path>
                <a:path w="4464050" h="859789">
                  <a:moveTo>
                    <a:pt x="1992985" y="644651"/>
                  </a:moveTo>
                  <a:lnTo>
                    <a:pt x="2471521" y="644651"/>
                  </a:lnTo>
                </a:path>
                <a:path w="4464050" h="859789">
                  <a:moveTo>
                    <a:pt x="3108553" y="644651"/>
                  </a:moveTo>
                  <a:lnTo>
                    <a:pt x="3587089" y="644651"/>
                  </a:lnTo>
                </a:path>
                <a:path w="4464050" h="859789">
                  <a:moveTo>
                    <a:pt x="4224121" y="644651"/>
                  </a:moveTo>
                  <a:lnTo>
                    <a:pt x="4463897" y="644651"/>
                  </a:lnTo>
                </a:path>
                <a:path w="4464050" h="859789">
                  <a:moveTo>
                    <a:pt x="0" y="429767"/>
                  </a:moveTo>
                  <a:lnTo>
                    <a:pt x="238861" y="429767"/>
                  </a:lnTo>
                </a:path>
                <a:path w="4464050" h="859789">
                  <a:moveTo>
                    <a:pt x="877417" y="429767"/>
                  </a:moveTo>
                  <a:lnTo>
                    <a:pt x="1354429" y="429767"/>
                  </a:lnTo>
                </a:path>
                <a:path w="4464050" h="859789">
                  <a:moveTo>
                    <a:pt x="1992985" y="429767"/>
                  </a:moveTo>
                  <a:lnTo>
                    <a:pt x="2471521" y="429767"/>
                  </a:lnTo>
                </a:path>
                <a:path w="4464050" h="859789">
                  <a:moveTo>
                    <a:pt x="3108553" y="429767"/>
                  </a:moveTo>
                  <a:lnTo>
                    <a:pt x="3587089" y="429767"/>
                  </a:lnTo>
                </a:path>
                <a:path w="4464050" h="859789">
                  <a:moveTo>
                    <a:pt x="4224121" y="429767"/>
                  </a:moveTo>
                  <a:lnTo>
                    <a:pt x="4463897" y="429767"/>
                  </a:lnTo>
                </a:path>
                <a:path w="4464050" h="859789">
                  <a:moveTo>
                    <a:pt x="0" y="214883"/>
                  </a:moveTo>
                  <a:lnTo>
                    <a:pt x="557377" y="214883"/>
                  </a:lnTo>
                </a:path>
                <a:path w="4464050" h="859789">
                  <a:moveTo>
                    <a:pt x="877417" y="214883"/>
                  </a:moveTo>
                  <a:lnTo>
                    <a:pt x="1354429" y="214883"/>
                  </a:lnTo>
                </a:path>
                <a:path w="4464050" h="859789">
                  <a:moveTo>
                    <a:pt x="1992985" y="214883"/>
                  </a:moveTo>
                  <a:lnTo>
                    <a:pt x="2790037" y="214883"/>
                  </a:lnTo>
                </a:path>
                <a:path w="4464050" h="859789">
                  <a:moveTo>
                    <a:pt x="3108553" y="214883"/>
                  </a:moveTo>
                  <a:lnTo>
                    <a:pt x="3905605" y="214883"/>
                  </a:lnTo>
                </a:path>
                <a:path w="4464050" h="859789">
                  <a:moveTo>
                    <a:pt x="4224121" y="214883"/>
                  </a:moveTo>
                  <a:lnTo>
                    <a:pt x="4463897" y="214883"/>
                  </a:lnTo>
                </a:path>
                <a:path w="4464050" h="859789">
                  <a:moveTo>
                    <a:pt x="0" y="0"/>
                  </a:moveTo>
                  <a:lnTo>
                    <a:pt x="4463897" y="0"/>
                  </a:lnTo>
                </a:path>
              </a:pathLst>
            </a:custGeom>
            <a:ln w="635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38784" y="3328415"/>
              <a:ext cx="3667125" cy="913130"/>
            </a:xfrm>
            <a:custGeom>
              <a:avLst/>
              <a:gdLst/>
              <a:ahLst/>
              <a:cxnLst/>
              <a:rect l="l" t="t" r="r" b="b"/>
              <a:pathLst>
                <a:path w="3667125" h="913129">
                  <a:moveTo>
                    <a:pt x="318516" y="74676"/>
                  </a:moveTo>
                  <a:lnTo>
                    <a:pt x="0" y="74676"/>
                  </a:lnTo>
                  <a:lnTo>
                    <a:pt x="0" y="912926"/>
                  </a:lnTo>
                  <a:lnTo>
                    <a:pt x="318516" y="912926"/>
                  </a:lnTo>
                  <a:lnTo>
                    <a:pt x="318516" y="74676"/>
                  </a:lnTo>
                  <a:close/>
                </a:path>
                <a:path w="3667125" h="913129">
                  <a:moveTo>
                    <a:pt x="1435608" y="0"/>
                  </a:moveTo>
                  <a:lnTo>
                    <a:pt x="1115568" y="0"/>
                  </a:lnTo>
                  <a:lnTo>
                    <a:pt x="1115568" y="912926"/>
                  </a:lnTo>
                  <a:lnTo>
                    <a:pt x="1435608" y="912926"/>
                  </a:lnTo>
                  <a:lnTo>
                    <a:pt x="1435608" y="0"/>
                  </a:lnTo>
                  <a:close/>
                </a:path>
                <a:path w="3667125" h="913129">
                  <a:moveTo>
                    <a:pt x="2551176" y="106680"/>
                  </a:moveTo>
                  <a:lnTo>
                    <a:pt x="2232660" y="106680"/>
                  </a:lnTo>
                  <a:lnTo>
                    <a:pt x="2232660" y="912926"/>
                  </a:lnTo>
                  <a:lnTo>
                    <a:pt x="2551176" y="912926"/>
                  </a:lnTo>
                  <a:lnTo>
                    <a:pt x="2551176" y="106680"/>
                  </a:lnTo>
                  <a:close/>
                </a:path>
                <a:path w="3667125" h="913129">
                  <a:moveTo>
                    <a:pt x="3666744" y="96012"/>
                  </a:moveTo>
                  <a:lnTo>
                    <a:pt x="3348228" y="96012"/>
                  </a:lnTo>
                  <a:lnTo>
                    <a:pt x="3348228" y="912926"/>
                  </a:lnTo>
                  <a:lnTo>
                    <a:pt x="3666744" y="912926"/>
                  </a:lnTo>
                  <a:lnTo>
                    <a:pt x="3666744" y="96012"/>
                  </a:lnTo>
                  <a:close/>
                </a:path>
              </a:pathLst>
            </a:custGeom>
            <a:solidFill>
              <a:srgbClr val="0A4F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57300" y="3241547"/>
              <a:ext cx="3667125" cy="1000125"/>
            </a:xfrm>
            <a:custGeom>
              <a:avLst/>
              <a:gdLst/>
              <a:ahLst/>
              <a:cxnLst/>
              <a:rect l="l" t="t" r="r" b="b"/>
              <a:pathLst>
                <a:path w="3667125" h="1000125">
                  <a:moveTo>
                    <a:pt x="320040" y="44196"/>
                  </a:moveTo>
                  <a:lnTo>
                    <a:pt x="0" y="44196"/>
                  </a:lnTo>
                  <a:lnTo>
                    <a:pt x="0" y="999794"/>
                  </a:lnTo>
                  <a:lnTo>
                    <a:pt x="320040" y="999794"/>
                  </a:lnTo>
                  <a:lnTo>
                    <a:pt x="320040" y="44196"/>
                  </a:lnTo>
                  <a:close/>
                </a:path>
                <a:path w="3667125" h="1000125">
                  <a:moveTo>
                    <a:pt x="1435608" y="0"/>
                  </a:moveTo>
                  <a:lnTo>
                    <a:pt x="1117092" y="0"/>
                  </a:lnTo>
                  <a:lnTo>
                    <a:pt x="1117092" y="999794"/>
                  </a:lnTo>
                  <a:lnTo>
                    <a:pt x="1435608" y="999794"/>
                  </a:lnTo>
                  <a:lnTo>
                    <a:pt x="1435608" y="0"/>
                  </a:lnTo>
                  <a:close/>
                </a:path>
                <a:path w="3667125" h="1000125">
                  <a:moveTo>
                    <a:pt x="2551176" y="76200"/>
                  </a:moveTo>
                  <a:lnTo>
                    <a:pt x="2232660" y="76200"/>
                  </a:lnTo>
                  <a:lnTo>
                    <a:pt x="2232660" y="999794"/>
                  </a:lnTo>
                  <a:lnTo>
                    <a:pt x="2551176" y="999794"/>
                  </a:lnTo>
                  <a:lnTo>
                    <a:pt x="2551176" y="76200"/>
                  </a:lnTo>
                  <a:close/>
                </a:path>
                <a:path w="3667125" h="1000125">
                  <a:moveTo>
                    <a:pt x="3666744" y="65532"/>
                  </a:moveTo>
                  <a:lnTo>
                    <a:pt x="3348228" y="65532"/>
                  </a:lnTo>
                  <a:lnTo>
                    <a:pt x="3348228" y="999794"/>
                  </a:lnTo>
                  <a:lnTo>
                    <a:pt x="3666744" y="999794"/>
                  </a:lnTo>
                  <a:lnTo>
                    <a:pt x="3666744" y="65532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53922" y="3166744"/>
              <a:ext cx="4510405" cy="1120775"/>
            </a:xfrm>
            <a:custGeom>
              <a:avLst/>
              <a:gdLst/>
              <a:ahLst/>
              <a:cxnLst/>
              <a:rect l="l" t="t" r="r" b="b"/>
              <a:pathLst>
                <a:path w="4510405" h="1120775">
                  <a:moveTo>
                    <a:pt x="45999" y="1074597"/>
                  </a:moveTo>
                  <a:lnTo>
                    <a:pt x="45999" y="0"/>
                  </a:lnTo>
                </a:path>
                <a:path w="4510405" h="1120775">
                  <a:moveTo>
                    <a:pt x="0" y="1074597"/>
                  </a:moveTo>
                  <a:lnTo>
                    <a:pt x="45999" y="1074597"/>
                  </a:lnTo>
                </a:path>
                <a:path w="4510405" h="1120775">
                  <a:moveTo>
                    <a:pt x="0" y="859663"/>
                  </a:moveTo>
                  <a:lnTo>
                    <a:pt x="45999" y="859663"/>
                  </a:lnTo>
                </a:path>
                <a:path w="4510405" h="1120775">
                  <a:moveTo>
                    <a:pt x="0" y="644779"/>
                  </a:moveTo>
                  <a:lnTo>
                    <a:pt x="45999" y="644779"/>
                  </a:lnTo>
                </a:path>
                <a:path w="4510405" h="1120775">
                  <a:moveTo>
                    <a:pt x="0" y="429895"/>
                  </a:moveTo>
                  <a:lnTo>
                    <a:pt x="45999" y="429895"/>
                  </a:lnTo>
                </a:path>
                <a:path w="4510405" h="1120775">
                  <a:moveTo>
                    <a:pt x="0" y="215011"/>
                  </a:moveTo>
                  <a:lnTo>
                    <a:pt x="45999" y="215011"/>
                  </a:lnTo>
                </a:path>
                <a:path w="4510405" h="1120775">
                  <a:moveTo>
                    <a:pt x="0" y="127"/>
                  </a:moveTo>
                  <a:lnTo>
                    <a:pt x="45999" y="127"/>
                  </a:lnTo>
                </a:path>
                <a:path w="4510405" h="1120775">
                  <a:moveTo>
                    <a:pt x="45999" y="1074597"/>
                  </a:moveTo>
                  <a:lnTo>
                    <a:pt x="4509897" y="1074597"/>
                  </a:lnTo>
                </a:path>
                <a:path w="4510405" h="1120775">
                  <a:moveTo>
                    <a:pt x="45999" y="1074597"/>
                  </a:moveTo>
                  <a:lnTo>
                    <a:pt x="45999" y="1120584"/>
                  </a:lnTo>
                </a:path>
                <a:path w="4510405" h="1120775">
                  <a:moveTo>
                    <a:pt x="1162684" y="1074597"/>
                  </a:moveTo>
                  <a:lnTo>
                    <a:pt x="1162684" y="1120584"/>
                  </a:lnTo>
                </a:path>
                <a:path w="4510405" h="1120775">
                  <a:moveTo>
                    <a:pt x="2278253" y="1074597"/>
                  </a:moveTo>
                  <a:lnTo>
                    <a:pt x="2278253" y="1120584"/>
                  </a:lnTo>
                </a:path>
                <a:path w="4510405" h="1120775">
                  <a:moveTo>
                    <a:pt x="3393821" y="1074597"/>
                  </a:moveTo>
                  <a:lnTo>
                    <a:pt x="3393821" y="1120584"/>
                  </a:lnTo>
                </a:path>
                <a:path w="4510405" h="1120775">
                  <a:moveTo>
                    <a:pt x="4509897" y="1074597"/>
                  </a:moveTo>
                  <a:lnTo>
                    <a:pt x="4509897" y="1120584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44220" y="3019805"/>
            <a:ext cx="237490" cy="131508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350"/>
              </a:spcBef>
            </a:pPr>
            <a:r>
              <a:rPr dirty="0" sz="1200" spc="-50">
                <a:solidFill>
                  <a:srgbClr val="3C6B79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250"/>
              </a:spcBef>
            </a:pPr>
            <a:r>
              <a:rPr dirty="0" sz="1200" spc="-25">
                <a:solidFill>
                  <a:srgbClr val="3C6B79"/>
                </a:solidFill>
                <a:latin typeface="Arial MT"/>
                <a:cs typeface="Arial MT"/>
              </a:rPr>
              <a:t>0.8</a:t>
            </a:r>
            <a:endParaRPr sz="12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254"/>
              </a:spcBef>
            </a:pPr>
            <a:r>
              <a:rPr dirty="0" sz="1200" spc="-25">
                <a:solidFill>
                  <a:srgbClr val="3C6B79"/>
                </a:solidFill>
                <a:latin typeface="Arial MT"/>
                <a:cs typeface="Arial MT"/>
              </a:rPr>
              <a:t>0.6</a:t>
            </a:r>
            <a:endParaRPr sz="12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254"/>
              </a:spcBef>
            </a:pPr>
            <a:r>
              <a:rPr dirty="0" sz="1200" spc="-25">
                <a:solidFill>
                  <a:srgbClr val="3C6B79"/>
                </a:solidFill>
                <a:latin typeface="Arial MT"/>
                <a:cs typeface="Arial MT"/>
              </a:rPr>
              <a:t>0.4</a:t>
            </a:r>
            <a:endParaRPr sz="12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250"/>
              </a:spcBef>
            </a:pPr>
            <a:r>
              <a:rPr dirty="0" sz="1200" spc="-25">
                <a:solidFill>
                  <a:srgbClr val="3C6B79"/>
                </a:solidFill>
                <a:latin typeface="Arial MT"/>
                <a:cs typeface="Arial MT"/>
              </a:rPr>
              <a:t>0.2</a:t>
            </a:r>
            <a:endParaRPr sz="12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250"/>
              </a:spcBef>
            </a:pPr>
            <a:r>
              <a:rPr dirty="0" sz="1200" spc="-50">
                <a:solidFill>
                  <a:srgbClr val="3C6B79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46480" y="4308144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3C6B79"/>
                </a:solidFill>
                <a:latin typeface="Arial MT"/>
                <a:cs typeface="Arial MT"/>
              </a:rPr>
              <a:t>Crack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93845" y="4308144"/>
            <a:ext cx="10242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C6B79"/>
                </a:solidFill>
                <a:latin typeface="Arial MT"/>
                <a:cs typeface="Arial MT"/>
              </a:rPr>
              <a:t>Edge</a:t>
            </a:r>
            <a:r>
              <a:rPr dirty="0" sz="1200" spc="-20">
                <a:solidFill>
                  <a:srgbClr val="3C6B79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C6B79"/>
                </a:solidFill>
                <a:latin typeface="Arial MT"/>
                <a:cs typeface="Arial MT"/>
              </a:rPr>
              <a:t>Cracking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743201" y="2817368"/>
            <a:ext cx="20923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A4F6C"/>
                </a:solidFill>
                <a:latin typeface="Arial MT"/>
                <a:cs typeface="Arial MT"/>
              </a:rPr>
              <a:t>IoU</a:t>
            </a:r>
            <a:r>
              <a:rPr dirty="0" sz="1100" spc="-30">
                <a:solidFill>
                  <a:srgbClr val="0A4F6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A4F6C"/>
                </a:solidFill>
                <a:latin typeface="Arial MT"/>
                <a:cs typeface="Arial MT"/>
              </a:rPr>
              <a:t>&amp;</a:t>
            </a:r>
            <a:r>
              <a:rPr dirty="0" sz="1100" spc="-10">
                <a:solidFill>
                  <a:srgbClr val="0A4F6C"/>
                </a:solidFill>
                <a:latin typeface="Arial MT"/>
                <a:cs typeface="Arial MT"/>
              </a:rPr>
              <a:t> F1-</a:t>
            </a:r>
            <a:r>
              <a:rPr dirty="0" sz="1100">
                <a:solidFill>
                  <a:srgbClr val="0A4F6C"/>
                </a:solidFill>
                <a:latin typeface="Arial MT"/>
                <a:cs typeface="Arial MT"/>
              </a:rPr>
              <a:t>Score</a:t>
            </a:r>
            <a:r>
              <a:rPr dirty="0" sz="1100" spc="-30">
                <a:solidFill>
                  <a:srgbClr val="0A4F6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A4F6C"/>
                </a:solidFill>
                <a:latin typeface="Arial MT"/>
                <a:cs typeface="Arial MT"/>
              </a:rPr>
              <a:t>by</a:t>
            </a:r>
            <a:r>
              <a:rPr dirty="0" sz="1100" spc="-20">
                <a:solidFill>
                  <a:srgbClr val="0A4F6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A4F6C"/>
                </a:solidFill>
                <a:latin typeface="Arial MT"/>
                <a:cs typeface="Arial MT"/>
              </a:rPr>
              <a:t>Damage</a:t>
            </a:r>
            <a:r>
              <a:rPr dirty="0" sz="1100" spc="-20">
                <a:solidFill>
                  <a:srgbClr val="0A4F6C"/>
                </a:solidFill>
                <a:latin typeface="Arial MT"/>
                <a:cs typeface="Arial MT"/>
              </a:rPr>
              <a:t> Type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349245" y="466614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0A4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102866" y="4308144"/>
            <a:ext cx="542925" cy="468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3C6B79"/>
                </a:solidFill>
                <a:latin typeface="Arial MT"/>
                <a:cs typeface="Arial MT"/>
              </a:rPr>
              <a:t>Pothole</a:t>
            </a:r>
            <a:endParaRPr sz="1200">
              <a:latin typeface="Arial MT"/>
              <a:cs typeface="Arial MT"/>
            </a:endParaRPr>
          </a:p>
          <a:p>
            <a:pPr marL="346075">
              <a:lnSpc>
                <a:spcPct val="100000"/>
              </a:lnSpc>
              <a:spcBef>
                <a:spcPts val="844"/>
              </a:spcBef>
            </a:pPr>
            <a:r>
              <a:rPr dirty="0" sz="1000" spc="-25">
                <a:latin typeface="Calibri"/>
                <a:cs typeface="Calibri"/>
              </a:rPr>
              <a:t>IoU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2729738" y="466614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E89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817367" y="4308144"/>
            <a:ext cx="1134745" cy="468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35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C6B79"/>
                </a:solidFill>
                <a:latin typeface="Arial MT"/>
                <a:cs typeface="Arial MT"/>
              </a:rPr>
              <a:t>Patch</a:t>
            </a:r>
            <a:r>
              <a:rPr dirty="0" sz="1200" spc="-15">
                <a:solidFill>
                  <a:srgbClr val="3C6B79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C6B79"/>
                </a:solidFill>
                <a:latin typeface="Arial MT"/>
                <a:cs typeface="Arial MT"/>
              </a:rPr>
              <a:t>Failure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000" spc="-10">
                <a:latin typeface="Calibri"/>
                <a:cs typeface="Calibri"/>
              </a:rPr>
              <a:t>F1-</a:t>
            </a:r>
            <a:r>
              <a:rPr dirty="0" sz="1000" spc="-20">
                <a:latin typeface="Calibri"/>
                <a:cs typeface="Calibri"/>
              </a:rPr>
              <a:t>Score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20" y="2660916"/>
            <a:ext cx="3641598" cy="2361438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440679" y="2743200"/>
            <a:ext cx="3429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</a:ln>
        </p:spPr>
        <p:txBody>
          <a:bodyPr wrap="square" lIns="0" tIns="927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730"/>
              </a:spcBef>
            </a:pPr>
            <a:r>
              <a:rPr dirty="0" sz="1250" b="1">
                <a:solidFill>
                  <a:srgbClr val="0A4F6C"/>
                </a:solidFill>
                <a:latin typeface="Calibri"/>
                <a:cs typeface="Calibri"/>
              </a:rPr>
              <a:t>Key</a:t>
            </a:r>
            <a:r>
              <a:rPr dirty="0" sz="1250" spc="-60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A4F6C"/>
                </a:solidFill>
                <a:latin typeface="Calibri"/>
                <a:cs typeface="Calibri"/>
              </a:rPr>
              <a:t>Findings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Calibri"/>
              <a:cs typeface="Calibri"/>
            </a:endParaRPr>
          </a:p>
          <a:p>
            <a:pPr marL="274955" marR="426084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Potholes</a:t>
            </a:r>
            <a:r>
              <a:rPr dirty="0" sz="9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achieved</a:t>
            </a:r>
            <a:r>
              <a:rPr dirty="0" sz="9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highest</a:t>
            </a:r>
            <a:r>
              <a:rPr dirty="0" sz="9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IoU</a:t>
            </a:r>
            <a:r>
              <a:rPr dirty="0" sz="9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(0.85)</a:t>
            </a:r>
            <a:r>
              <a:rPr dirty="0" sz="950" spc="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–</a:t>
            </a:r>
            <a:r>
              <a:rPr dirty="0" sz="9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strong</a:t>
            </a:r>
            <a:r>
              <a:rPr dirty="0" sz="9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1A2D38"/>
                </a:solidFill>
                <a:latin typeface="Calibri"/>
                <a:cs typeface="Calibri"/>
              </a:rPr>
              <a:t>boundary detection</a:t>
            </a:r>
            <a:endParaRPr sz="950">
              <a:latin typeface="Calibri"/>
              <a:cs typeface="Calibri"/>
            </a:endParaRPr>
          </a:p>
          <a:p>
            <a:pPr marL="274955" marR="353060">
              <a:lnSpc>
                <a:spcPct val="100000"/>
              </a:lnSpc>
              <a:spcBef>
                <a:spcPts val="960"/>
              </a:spcBef>
            </a:pPr>
            <a:r>
              <a:rPr dirty="0" sz="950" spc="-10">
                <a:solidFill>
                  <a:srgbClr val="1A2D38"/>
                </a:solidFill>
                <a:latin typeface="Calibri"/>
                <a:cs typeface="Calibri"/>
              </a:rPr>
              <a:t>Black-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Hat</a:t>
            </a:r>
            <a:r>
              <a:rPr dirty="0" sz="9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1A2D38"/>
                </a:solidFill>
                <a:latin typeface="Calibri"/>
                <a:cs typeface="Calibri"/>
              </a:rPr>
              <a:t>transform</a:t>
            </a:r>
            <a:r>
              <a:rPr dirty="0" sz="9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successfully eliminated shadow</a:t>
            </a:r>
            <a:r>
              <a:rPr dirty="0" sz="9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1A2D38"/>
                </a:solidFill>
                <a:latin typeface="Calibri"/>
                <a:cs typeface="Calibri"/>
              </a:rPr>
              <a:t>false positives</a:t>
            </a:r>
            <a:endParaRPr sz="950">
              <a:latin typeface="Calibri"/>
              <a:cs typeface="Calibri"/>
            </a:endParaRPr>
          </a:p>
          <a:p>
            <a:pPr marL="274955" marR="88265">
              <a:lnSpc>
                <a:spcPct val="100000"/>
              </a:lnSpc>
              <a:spcBef>
                <a:spcPts val="960"/>
              </a:spcBef>
            </a:pP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Dynamic</a:t>
            </a:r>
            <a:r>
              <a:rPr dirty="0" sz="9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area</a:t>
            </a:r>
            <a:r>
              <a:rPr dirty="0" sz="95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filter</a:t>
            </a:r>
            <a:r>
              <a:rPr dirty="0" sz="9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removed</a:t>
            </a:r>
            <a:r>
              <a:rPr dirty="0" sz="95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gravel</a:t>
            </a:r>
            <a:r>
              <a:rPr dirty="0" sz="9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noise</a:t>
            </a:r>
            <a:r>
              <a:rPr dirty="0" sz="9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while</a:t>
            </a:r>
            <a:r>
              <a:rPr dirty="0" sz="95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preserving</a:t>
            </a:r>
            <a:r>
              <a:rPr dirty="0" sz="9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1A2D38"/>
                </a:solidFill>
                <a:latin typeface="Calibri"/>
                <a:cs typeface="Calibri"/>
              </a:rPr>
              <a:t>thin</a:t>
            </a:r>
            <a:r>
              <a:rPr dirty="0" sz="950" spc="-10">
                <a:solidFill>
                  <a:srgbClr val="1A2D38"/>
                </a:solidFill>
                <a:latin typeface="Calibri"/>
                <a:cs typeface="Calibri"/>
              </a:rPr>
              <a:t> cracks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>
              <a:latin typeface="Calibri"/>
              <a:cs typeface="Calibri"/>
            </a:endParaRPr>
          </a:p>
          <a:p>
            <a:pPr marL="274955">
              <a:lnSpc>
                <a:spcPct val="100000"/>
              </a:lnSpc>
            </a:pP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Average</a:t>
            </a:r>
            <a:r>
              <a:rPr dirty="0" sz="9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accuracy</a:t>
            </a:r>
            <a:r>
              <a:rPr dirty="0" sz="9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&gt;90%</a:t>
            </a:r>
            <a:r>
              <a:rPr dirty="0" sz="95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across</a:t>
            </a:r>
            <a:r>
              <a:rPr dirty="0" sz="95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all</a:t>
            </a:r>
            <a:r>
              <a:rPr dirty="0" sz="95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A2D38"/>
                </a:solidFill>
                <a:latin typeface="Calibri"/>
                <a:cs typeface="Calibri"/>
              </a:rPr>
              <a:t>damage</a:t>
            </a:r>
            <a:r>
              <a:rPr dirty="0" sz="95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1A2D38"/>
                </a:solidFill>
                <a:latin typeface="Calibri"/>
                <a:cs typeface="Calibri"/>
              </a:rPr>
              <a:t>categories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/>
              <a:t>Limitations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8884666" y="20187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7160" y="722376"/>
            <a:ext cx="4373245" cy="1474470"/>
            <a:chOff x="137160" y="722376"/>
            <a:chExt cx="4373245" cy="147447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722376"/>
              <a:ext cx="4373118" cy="147447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84048" y="804672"/>
              <a:ext cx="4051300" cy="1262380"/>
            </a:xfrm>
            <a:custGeom>
              <a:avLst/>
              <a:gdLst/>
              <a:ahLst/>
              <a:cxnLst/>
              <a:rect l="l" t="t" r="r" b="b"/>
              <a:pathLst>
                <a:path w="4051300" h="1262380">
                  <a:moveTo>
                    <a:pt x="0" y="1261871"/>
                  </a:moveTo>
                  <a:lnTo>
                    <a:pt x="4050792" y="1261871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74320" y="804672"/>
              <a:ext cx="4160520" cy="1262380"/>
            </a:xfrm>
            <a:custGeom>
              <a:avLst/>
              <a:gdLst/>
              <a:ahLst/>
              <a:cxnLst/>
              <a:rect l="l" t="t" r="r" b="b"/>
              <a:pathLst>
                <a:path w="4160520" h="1262380">
                  <a:moveTo>
                    <a:pt x="0" y="1261871"/>
                  </a:moveTo>
                  <a:lnTo>
                    <a:pt x="4160520" y="1261871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ln w="12700">
              <a:solidFill>
                <a:srgbClr val="F9DA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74320" y="804672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80">
                  <a:moveTo>
                    <a:pt x="109728" y="0"/>
                  </a:moveTo>
                  <a:lnTo>
                    <a:pt x="0" y="0"/>
                  </a:lnTo>
                  <a:lnTo>
                    <a:pt x="0" y="1261871"/>
                  </a:lnTo>
                  <a:lnTo>
                    <a:pt x="109728" y="1261871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4320" y="804672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80">
                  <a:moveTo>
                    <a:pt x="0" y="1261871"/>
                  </a:moveTo>
                  <a:lnTo>
                    <a:pt x="109728" y="1261871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96111" y="924814"/>
            <a:ext cx="12738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392B"/>
                </a:solidFill>
                <a:latin typeface="Trebuchet MS"/>
                <a:cs typeface="Trebuchet MS"/>
              </a:rPr>
              <a:t>Extreme</a:t>
            </a:r>
            <a:r>
              <a:rPr dirty="0" sz="1200" spc="-45" b="1">
                <a:solidFill>
                  <a:srgbClr val="C0392B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C0392B"/>
                </a:solidFill>
                <a:latin typeface="Trebuchet MS"/>
                <a:cs typeface="Trebuchet MS"/>
              </a:rPr>
              <a:t>Shadows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75487" y="1464691"/>
            <a:ext cx="3742054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Very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dark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shadows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cannot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be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fully</a:t>
            </a:r>
            <a:r>
              <a:rPr dirty="0" sz="100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removed by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normalization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—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residual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dark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patches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may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be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mistaken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for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cracks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during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segmentation.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572000" y="722376"/>
            <a:ext cx="4373245" cy="1474470"/>
            <a:chOff x="4572000" y="722376"/>
            <a:chExt cx="4373245" cy="1474470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722376"/>
              <a:ext cx="4373117" cy="147447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818888" y="804672"/>
              <a:ext cx="4051300" cy="1262380"/>
            </a:xfrm>
            <a:custGeom>
              <a:avLst/>
              <a:gdLst/>
              <a:ahLst/>
              <a:cxnLst/>
              <a:rect l="l" t="t" r="r" b="b"/>
              <a:pathLst>
                <a:path w="4051300" h="1262380">
                  <a:moveTo>
                    <a:pt x="0" y="1261871"/>
                  </a:moveTo>
                  <a:lnTo>
                    <a:pt x="4050792" y="1261871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09160" y="804672"/>
              <a:ext cx="4160520" cy="1262380"/>
            </a:xfrm>
            <a:custGeom>
              <a:avLst/>
              <a:gdLst/>
              <a:ahLst/>
              <a:cxnLst/>
              <a:rect l="l" t="t" r="r" b="b"/>
              <a:pathLst>
                <a:path w="4160520" h="1262380">
                  <a:moveTo>
                    <a:pt x="0" y="1261871"/>
                  </a:moveTo>
                  <a:lnTo>
                    <a:pt x="4160520" y="1261871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ln w="12700">
              <a:solidFill>
                <a:srgbClr val="F9DA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09160" y="804672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80">
                  <a:moveTo>
                    <a:pt x="109727" y="0"/>
                  </a:moveTo>
                  <a:lnTo>
                    <a:pt x="0" y="0"/>
                  </a:lnTo>
                  <a:lnTo>
                    <a:pt x="0" y="1261871"/>
                  </a:lnTo>
                  <a:lnTo>
                    <a:pt x="109727" y="1261871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09160" y="804672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80">
                  <a:moveTo>
                    <a:pt x="0" y="1261871"/>
                  </a:moveTo>
                  <a:lnTo>
                    <a:pt x="109727" y="1261871"/>
                  </a:lnTo>
                  <a:lnTo>
                    <a:pt x="109727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331840" y="924814"/>
            <a:ext cx="1485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392B"/>
                </a:solidFill>
                <a:latin typeface="Trebuchet MS"/>
                <a:cs typeface="Trebuchet MS"/>
              </a:rPr>
              <a:t>Wet</a:t>
            </a:r>
            <a:r>
              <a:rPr dirty="0" sz="1200" spc="-30" b="1">
                <a:solidFill>
                  <a:srgbClr val="C0392B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C0392B"/>
                </a:solidFill>
                <a:latin typeface="Trebuchet MS"/>
                <a:cs typeface="Trebuchet MS"/>
              </a:rPr>
              <a:t>Road</a:t>
            </a:r>
            <a:r>
              <a:rPr dirty="0" sz="1200" spc="-40" b="1">
                <a:solidFill>
                  <a:srgbClr val="C0392B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C0392B"/>
                </a:solidFill>
                <a:latin typeface="Trebuchet MS"/>
                <a:cs typeface="Trebuchet MS"/>
              </a:rPr>
              <a:t>Conditions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910963" y="1464691"/>
            <a:ext cx="35217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Surface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reflections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from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rain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alter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pixel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intensity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profiles,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potentially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causing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false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detections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or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missed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damage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regions.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37160" y="2139695"/>
            <a:ext cx="4373245" cy="1474470"/>
            <a:chOff x="137160" y="2139695"/>
            <a:chExt cx="4373245" cy="1474470"/>
          </a:xfrm>
        </p:grpSpPr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139695"/>
              <a:ext cx="4373118" cy="147446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84048" y="2221991"/>
              <a:ext cx="4051300" cy="1262380"/>
            </a:xfrm>
            <a:custGeom>
              <a:avLst/>
              <a:gdLst/>
              <a:ahLst/>
              <a:cxnLst/>
              <a:rect l="l" t="t" r="r" b="b"/>
              <a:pathLst>
                <a:path w="4051300" h="1262379">
                  <a:moveTo>
                    <a:pt x="0" y="1261872"/>
                  </a:moveTo>
                  <a:lnTo>
                    <a:pt x="4050792" y="1261872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4320" y="2221991"/>
              <a:ext cx="4160520" cy="1262380"/>
            </a:xfrm>
            <a:custGeom>
              <a:avLst/>
              <a:gdLst/>
              <a:ahLst/>
              <a:cxnLst/>
              <a:rect l="l" t="t" r="r" b="b"/>
              <a:pathLst>
                <a:path w="4160520" h="1262379">
                  <a:moveTo>
                    <a:pt x="0" y="1261872"/>
                  </a:moveTo>
                  <a:lnTo>
                    <a:pt x="4160520" y="126187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12700">
              <a:solidFill>
                <a:srgbClr val="F9DA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74320" y="2221991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79">
                  <a:moveTo>
                    <a:pt x="109728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09728" y="1261872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74320" y="2221991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79">
                  <a:moveTo>
                    <a:pt x="0" y="1261872"/>
                  </a:moveTo>
                  <a:lnTo>
                    <a:pt x="109728" y="1261872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896111" y="2342514"/>
            <a:ext cx="8331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392B"/>
                </a:solidFill>
                <a:latin typeface="Trebuchet MS"/>
                <a:cs typeface="Trebuchet MS"/>
              </a:rPr>
              <a:t>Motion</a:t>
            </a:r>
            <a:r>
              <a:rPr dirty="0" sz="1200" spc="-30" b="1">
                <a:solidFill>
                  <a:srgbClr val="C0392B"/>
                </a:solidFill>
                <a:latin typeface="Trebuchet MS"/>
                <a:cs typeface="Trebuchet MS"/>
              </a:rPr>
              <a:t> </a:t>
            </a:r>
            <a:r>
              <a:rPr dirty="0" sz="1200" spc="-20" b="1">
                <a:solidFill>
                  <a:srgbClr val="C0392B"/>
                </a:solidFill>
                <a:latin typeface="Trebuchet MS"/>
                <a:cs typeface="Trebuchet MS"/>
              </a:rPr>
              <a:t>Blur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75487" y="2882264"/>
            <a:ext cx="359727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Excessive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camera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shake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or</a:t>
            </a:r>
            <a:r>
              <a:rPr dirty="0" sz="100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fast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movement blurs</a:t>
            </a:r>
            <a:r>
              <a:rPr dirty="0" sz="100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crack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edges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into</a:t>
            </a:r>
            <a:r>
              <a:rPr dirty="0" sz="1000" spc="-4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road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texture,</a:t>
            </a:r>
            <a:r>
              <a:rPr dirty="0" sz="100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reducing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recall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in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blur-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heavy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frames.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572000" y="2139695"/>
            <a:ext cx="4373245" cy="1474470"/>
            <a:chOff x="4572000" y="2139695"/>
            <a:chExt cx="4373245" cy="1474470"/>
          </a:xfrm>
        </p:grpSpPr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139695"/>
              <a:ext cx="4373117" cy="1474469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818888" y="2221991"/>
              <a:ext cx="4051300" cy="1262380"/>
            </a:xfrm>
            <a:custGeom>
              <a:avLst/>
              <a:gdLst/>
              <a:ahLst/>
              <a:cxnLst/>
              <a:rect l="l" t="t" r="r" b="b"/>
              <a:pathLst>
                <a:path w="4051300" h="1262379">
                  <a:moveTo>
                    <a:pt x="0" y="1261872"/>
                  </a:moveTo>
                  <a:lnTo>
                    <a:pt x="4050792" y="1261872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709160" y="2221991"/>
              <a:ext cx="4160520" cy="1262380"/>
            </a:xfrm>
            <a:custGeom>
              <a:avLst/>
              <a:gdLst/>
              <a:ahLst/>
              <a:cxnLst/>
              <a:rect l="l" t="t" r="r" b="b"/>
              <a:pathLst>
                <a:path w="4160520" h="1262379">
                  <a:moveTo>
                    <a:pt x="0" y="1261872"/>
                  </a:moveTo>
                  <a:lnTo>
                    <a:pt x="4160520" y="126187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12700">
              <a:solidFill>
                <a:srgbClr val="F9DA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709160" y="2221991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79">
                  <a:moveTo>
                    <a:pt x="109727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09727" y="1261872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709160" y="2221991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79">
                  <a:moveTo>
                    <a:pt x="0" y="1261872"/>
                  </a:moveTo>
                  <a:lnTo>
                    <a:pt x="109727" y="1261872"/>
                  </a:lnTo>
                  <a:lnTo>
                    <a:pt x="109727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5331840" y="2342514"/>
            <a:ext cx="1564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C0392B"/>
                </a:solidFill>
                <a:latin typeface="Trebuchet MS"/>
                <a:cs typeface="Trebuchet MS"/>
              </a:rPr>
              <a:t>Compression</a:t>
            </a:r>
            <a:r>
              <a:rPr dirty="0" sz="1200" spc="-25" b="1">
                <a:solidFill>
                  <a:srgbClr val="C0392B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C0392B"/>
                </a:solidFill>
                <a:latin typeface="Trebuchet MS"/>
                <a:cs typeface="Trebuchet MS"/>
              </a:rPr>
              <a:t>Artifacts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910963" y="2882264"/>
            <a:ext cx="32702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Block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noise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from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MP4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video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encoding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can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persist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after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filtering, introducing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unwanted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texture</a:t>
            </a:r>
            <a:r>
              <a:rPr dirty="0" sz="1000" spc="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patterns.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37160" y="3557015"/>
            <a:ext cx="4373245" cy="1474470"/>
            <a:chOff x="137160" y="3557015"/>
            <a:chExt cx="4373245" cy="1474470"/>
          </a:xfrm>
        </p:grpSpPr>
        <p:pic>
          <p:nvPicPr>
            <p:cNvPr id="37" name="object 3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3557015"/>
              <a:ext cx="4373118" cy="147447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84048" y="3639311"/>
              <a:ext cx="4051300" cy="1262380"/>
            </a:xfrm>
            <a:custGeom>
              <a:avLst/>
              <a:gdLst/>
              <a:ahLst/>
              <a:cxnLst/>
              <a:rect l="l" t="t" r="r" b="b"/>
              <a:pathLst>
                <a:path w="4051300" h="1262379">
                  <a:moveTo>
                    <a:pt x="0" y="1261872"/>
                  </a:moveTo>
                  <a:lnTo>
                    <a:pt x="4050792" y="1261872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74320" y="3639311"/>
              <a:ext cx="4160520" cy="1262380"/>
            </a:xfrm>
            <a:custGeom>
              <a:avLst/>
              <a:gdLst/>
              <a:ahLst/>
              <a:cxnLst/>
              <a:rect l="l" t="t" r="r" b="b"/>
              <a:pathLst>
                <a:path w="4160520" h="1262379">
                  <a:moveTo>
                    <a:pt x="0" y="1261872"/>
                  </a:moveTo>
                  <a:lnTo>
                    <a:pt x="4160520" y="126187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12700">
              <a:solidFill>
                <a:srgbClr val="F9DA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74320" y="3639311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79">
                  <a:moveTo>
                    <a:pt x="109728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09728" y="1261872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74320" y="3639311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79">
                  <a:moveTo>
                    <a:pt x="0" y="1261872"/>
                  </a:moveTo>
                  <a:lnTo>
                    <a:pt x="109728" y="1261872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896111" y="3760419"/>
            <a:ext cx="18186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C0392B"/>
                </a:solidFill>
                <a:latin typeface="Trebuchet MS"/>
                <a:cs typeface="Trebuchet MS"/>
              </a:rPr>
              <a:t>Non-Structural</a:t>
            </a:r>
            <a:r>
              <a:rPr dirty="0" sz="1200" spc="-60" b="1">
                <a:solidFill>
                  <a:srgbClr val="C0392B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C0392B"/>
                </a:solidFill>
                <a:latin typeface="Trebuchet MS"/>
                <a:cs typeface="Trebuchet MS"/>
              </a:rPr>
              <a:t>Anomalies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75487" y="4299915"/>
            <a:ext cx="37846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Dark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tire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marks,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oil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spills,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or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wet</a:t>
            </a:r>
            <a:r>
              <a:rPr dirty="0" sz="100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patches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mimic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pothole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intensity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profiles, occasionally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causing</a:t>
            </a:r>
            <a:r>
              <a:rPr dirty="0" sz="100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false</a:t>
            </a:r>
            <a:r>
              <a:rPr dirty="0" sz="1000" spc="-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positives.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4572000" y="3557015"/>
            <a:ext cx="4373245" cy="1474470"/>
            <a:chOff x="4572000" y="3557015"/>
            <a:chExt cx="4373245" cy="1474470"/>
          </a:xfrm>
        </p:grpSpPr>
        <p:pic>
          <p:nvPicPr>
            <p:cNvPr id="45" name="object 4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3557015"/>
              <a:ext cx="4373117" cy="1474470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4818888" y="3639311"/>
              <a:ext cx="4051300" cy="1262380"/>
            </a:xfrm>
            <a:custGeom>
              <a:avLst/>
              <a:gdLst/>
              <a:ahLst/>
              <a:cxnLst/>
              <a:rect l="l" t="t" r="r" b="b"/>
              <a:pathLst>
                <a:path w="4051300" h="1262379">
                  <a:moveTo>
                    <a:pt x="0" y="1261872"/>
                  </a:moveTo>
                  <a:lnTo>
                    <a:pt x="4050792" y="1261872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709160" y="3639311"/>
              <a:ext cx="4160520" cy="1262380"/>
            </a:xfrm>
            <a:custGeom>
              <a:avLst/>
              <a:gdLst/>
              <a:ahLst/>
              <a:cxnLst/>
              <a:rect l="l" t="t" r="r" b="b"/>
              <a:pathLst>
                <a:path w="4160520" h="1262379">
                  <a:moveTo>
                    <a:pt x="0" y="1261872"/>
                  </a:moveTo>
                  <a:lnTo>
                    <a:pt x="4160520" y="126187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12700">
              <a:solidFill>
                <a:srgbClr val="F9DA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709160" y="3639311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79">
                  <a:moveTo>
                    <a:pt x="109727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109727" y="1261872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709160" y="3639311"/>
              <a:ext cx="109855" cy="1262380"/>
            </a:xfrm>
            <a:custGeom>
              <a:avLst/>
              <a:gdLst/>
              <a:ahLst/>
              <a:cxnLst/>
              <a:rect l="l" t="t" r="r" b="b"/>
              <a:pathLst>
                <a:path w="109854" h="1262379">
                  <a:moveTo>
                    <a:pt x="0" y="1261872"/>
                  </a:moveTo>
                  <a:lnTo>
                    <a:pt x="109727" y="1261872"/>
                  </a:lnTo>
                  <a:lnTo>
                    <a:pt x="109727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5331840" y="3760419"/>
            <a:ext cx="2527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0392B"/>
                </a:solidFill>
                <a:latin typeface="Trebuchet MS"/>
                <a:cs typeface="Trebuchet MS"/>
              </a:rPr>
              <a:t>Patch</a:t>
            </a:r>
            <a:r>
              <a:rPr dirty="0" sz="1200" spc="-60" b="1">
                <a:solidFill>
                  <a:srgbClr val="C0392B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C0392B"/>
                </a:solidFill>
                <a:latin typeface="Trebuchet MS"/>
                <a:cs typeface="Trebuchet MS"/>
              </a:rPr>
              <a:t>Boundary</a:t>
            </a:r>
            <a:r>
              <a:rPr dirty="0" sz="1200" spc="-50" b="1">
                <a:solidFill>
                  <a:srgbClr val="C0392B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C0392B"/>
                </a:solidFill>
                <a:latin typeface="Trebuchet MS"/>
                <a:cs typeface="Trebuchet MS"/>
              </a:rPr>
              <a:t>Over-segmentation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4910963" y="4299915"/>
            <a:ext cx="33724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The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 algorithm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sometimes segments</a:t>
            </a:r>
            <a:r>
              <a:rPr dirty="0" sz="1000" spc="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patch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boundaries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as</a:t>
            </a:r>
            <a:r>
              <a:rPr dirty="0" sz="1000" spc="-1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multiple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individual</a:t>
            </a:r>
            <a:r>
              <a:rPr dirty="0" sz="1000" spc="-4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cracks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rather</a:t>
            </a:r>
            <a:r>
              <a:rPr dirty="0" sz="1000" spc="-2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than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a</a:t>
            </a:r>
            <a:r>
              <a:rPr dirty="0" sz="1000" spc="-3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single</a:t>
            </a:r>
            <a:r>
              <a:rPr dirty="0" sz="1000" spc="-20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2D38"/>
                </a:solidFill>
                <a:latin typeface="Calibri"/>
                <a:cs typeface="Calibri"/>
              </a:rPr>
              <a:t>unified</a:t>
            </a:r>
            <a:r>
              <a:rPr dirty="0" sz="1000" spc="-35">
                <a:solidFill>
                  <a:srgbClr val="1A2D3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2D38"/>
                </a:solidFill>
                <a:latin typeface="Calibri"/>
                <a:cs typeface="Calibri"/>
              </a:rPr>
              <a:t>region.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165100" cy="5143500"/>
            </a:xfrm>
            <a:custGeom>
              <a:avLst/>
              <a:gdLst/>
              <a:ahLst/>
              <a:cxnLst/>
              <a:rect l="l" t="t" r="r" b="b"/>
              <a:pathLst>
                <a:path w="165100" h="5143500">
                  <a:moveTo>
                    <a:pt x="16459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64592" y="5143500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165100" cy="5143500"/>
            </a:xfrm>
            <a:custGeom>
              <a:avLst/>
              <a:gdLst/>
              <a:ahLst/>
              <a:cxnLst/>
              <a:rect l="l" t="t" r="r" b="b"/>
              <a:pathLst>
                <a:path w="165100" h="5143500">
                  <a:moveTo>
                    <a:pt x="0" y="5143500"/>
                  </a:moveTo>
                  <a:lnTo>
                    <a:pt x="164592" y="5143500"/>
                  </a:lnTo>
                  <a:lnTo>
                    <a:pt x="164592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699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4592" y="4738432"/>
              <a:ext cx="8979535" cy="405130"/>
            </a:xfrm>
            <a:custGeom>
              <a:avLst/>
              <a:gdLst/>
              <a:ahLst/>
              <a:cxnLst/>
              <a:rect l="l" t="t" r="r" b="b"/>
              <a:pathLst>
                <a:path w="8979535" h="405129">
                  <a:moveTo>
                    <a:pt x="8979408" y="0"/>
                  </a:moveTo>
                  <a:lnTo>
                    <a:pt x="0" y="0"/>
                  </a:lnTo>
                  <a:lnTo>
                    <a:pt x="0" y="405066"/>
                  </a:lnTo>
                  <a:lnTo>
                    <a:pt x="8979408" y="405066"/>
                  </a:lnTo>
                  <a:lnTo>
                    <a:pt x="8979408" y="0"/>
                  </a:lnTo>
                  <a:close/>
                </a:path>
              </a:pathLst>
            </a:custGeom>
            <a:solidFill>
              <a:srgbClr val="1A2D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4592" y="4738432"/>
              <a:ext cx="8979535" cy="405130"/>
            </a:xfrm>
            <a:custGeom>
              <a:avLst/>
              <a:gdLst/>
              <a:ahLst/>
              <a:cxnLst/>
              <a:rect l="l" t="t" r="r" b="b"/>
              <a:pathLst>
                <a:path w="8979535" h="405129">
                  <a:moveTo>
                    <a:pt x="0" y="405066"/>
                  </a:moveTo>
                  <a:lnTo>
                    <a:pt x="8979408" y="405066"/>
                  </a:lnTo>
                  <a:lnTo>
                    <a:pt x="8979408" y="0"/>
                  </a:lnTo>
                  <a:lnTo>
                    <a:pt x="0" y="0"/>
                  </a:lnTo>
                  <a:lnTo>
                    <a:pt x="0" y="405066"/>
                  </a:lnTo>
                  <a:close/>
                </a:path>
              </a:pathLst>
            </a:custGeom>
            <a:ln w="12700">
              <a:solidFill>
                <a:srgbClr val="1A2D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65759" y="804672"/>
              <a:ext cx="3657600" cy="36830"/>
            </a:xfrm>
            <a:custGeom>
              <a:avLst/>
              <a:gdLst/>
              <a:ahLst/>
              <a:cxnLst/>
              <a:rect l="l" t="t" r="r" b="b"/>
              <a:pathLst>
                <a:path w="3657600" h="36830">
                  <a:moveTo>
                    <a:pt x="36576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657600" y="3657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65759" y="804672"/>
              <a:ext cx="3657600" cy="36830"/>
            </a:xfrm>
            <a:custGeom>
              <a:avLst/>
              <a:gdLst/>
              <a:ahLst/>
              <a:cxnLst/>
              <a:rect l="l" t="t" r="r" b="b"/>
              <a:pathLst>
                <a:path w="3657600" h="36830">
                  <a:moveTo>
                    <a:pt x="0" y="36575"/>
                  </a:moveTo>
                  <a:lnTo>
                    <a:pt x="3657600" y="36575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65759" y="896111"/>
              <a:ext cx="4480560" cy="3365500"/>
            </a:xfrm>
            <a:custGeom>
              <a:avLst/>
              <a:gdLst/>
              <a:ahLst/>
              <a:cxnLst/>
              <a:rect l="l" t="t" r="r" b="b"/>
              <a:pathLst>
                <a:path w="4480560" h="3365500">
                  <a:moveTo>
                    <a:pt x="4480560" y="0"/>
                  </a:moveTo>
                  <a:lnTo>
                    <a:pt x="0" y="0"/>
                  </a:lnTo>
                  <a:lnTo>
                    <a:pt x="0" y="3364991"/>
                  </a:lnTo>
                  <a:lnTo>
                    <a:pt x="4480560" y="3364991"/>
                  </a:lnTo>
                  <a:lnTo>
                    <a:pt x="4480560" y="0"/>
                  </a:lnTo>
                  <a:close/>
                </a:path>
              </a:pathLst>
            </a:custGeom>
            <a:solidFill>
              <a:srgbClr val="AEABAB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4367" y="1475486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5">
                  <a:moveTo>
                    <a:pt x="109728" y="0"/>
                  </a:moveTo>
                  <a:lnTo>
                    <a:pt x="0" y="0"/>
                  </a:lnTo>
                  <a:lnTo>
                    <a:pt x="0" y="100584"/>
                  </a:lnTo>
                  <a:lnTo>
                    <a:pt x="109728" y="100584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04367" y="1475486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5">
                  <a:moveTo>
                    <a:pt x="0" y="100584"/>
                  </a:moveTo>
                  <a:lnTo>
                    <a:pt x="109728" y="100584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0584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341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105"/>
              </a:spcBef>
            </a:pPr>
            <a:r>
              <a:rPr dirty="0"/>
              <a:t>Conclusion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/>
              <a:t>Future</a:t>
            </a:r>
            <a:r>
              <a:rPr dirty="0" spc="-65"/>
              <a:t> </a:t>
            </a:r>
            <a:r>
              <a:rPr dirty="0" spc="-20"/>
              <a:t>Work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0175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025"/>
              </a:spcBef>
            </a:pPr>
            <a:r>
              <a:rPr dirty="0" spc="-10"/>
              <a:t>Conclusions</a:t>
            </a:r>
          </a:p>
          <a:p>
            <a:pPr marL="383540">
              <a:lnSpc>
                <a:spcPct val="100000"/>
              </a:lnSpc>
              <a:spcBef>
                <a:spcPts val="1575"/>
              </a:spcBef>
            </a:pPr>
            <a:r>
              <a:rPr dirty="0" sz="1000" b="0">
                <a:latin typeface="Calibri"/>
                <a:cs typeface="Calibri"/>
              </a:rPr>
              <a:t>A</a:t>
            </a:r>
            <a:r>
              <a:rPr dirty="0" sz="1000" spc="-2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complete</a:t>
            </a:r>
            <a:r>
              <a:rPr dirty="0" sz="1000" spc="-10" b="0">
                <a:latin typeface="Calibri"/>
                <a:cs typeface="Calibri"/>
              </a:rPr>
              <a:t> video-</a:t>
            </a:r>
            <a:r>
              <a:rPr dirty="0" sz="1000" b="0">
                <a:latin typeface="Calibri"/>
                <a:cs typeface="Calibri"/>
              </a:rPr>
              <a:t>based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road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damage</a:t>
            </a:r>
            <a:r>
              <a:rPr dirty="0" sz="1000" spc="-10" b="0">
                <a:latin typeface="Calibri"/>
                <a:cs typeface="Calibri"/>
              </a:rPr>
              <a:t> detection </a:t>
            </a:r>
            <a:r>
              <a:rPr dirty="0" sz="1000" b="0">
                <a:latin typeface="Calibri"/>
                <a:cs typeface="Calibri"/>
              </a:rPr>
              <a:t>system</a:t>
            </a:r>
            <a:r>
              <a:rPr dirty="0" sz="1000" spc="-1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was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successfully</a:t>
            </a:r>
            <a:endParaRPr sz="100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dirty="0" sz="1000" b="0">
                <a:latin typeface="Calibri"/>
                <a:cs typeface="Calibri"/>
              </a:rPr>
              <a:t>designed</a:t>
            </a:r>
            <a:r>
              <a:rPr dirty="0" sz="1000" spc="-1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and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implemented</a:t>
            </a:r>
            <a:r>
              <a:rPr dirty="0" sz="1000" b="0">
                <a:latin typeface="Calibri"/>
                <a:cs typeface="Calibri"/>
              </a:rPr>
              <a:t> using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mobile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footages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from</a:t>
            </a:r>
            <a:r>
              <a:rPr dirty="0" sz="1000" spc="-1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Sri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Lankan</a:t>
            </a:r>
            <a:r>
              <a:rPr dirty="0" sz="1000" spc="-40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roads.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00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dirty="0" sz="1000" b="0">
                <a:latin typeface="Calibri"/>
                <a:cs typeface="Calibri"/>
              </a:rPr>
              <a:t>The</a:t>
            </a:r>
            <a:r>
              <a:rPr dirty="0" sz="1000" spc="-10" b="0">
                <a:latin typeface="Calibri"/>
                <a:cs typeface="Calibri"/>
              </a:rPr>
              <a:t> 5-</a:t>
            </a:r>
            <a:r>
              <a:rPr dirty="0" sz="1000" b="0">
                <a:latin typeface="Calibri"/>
                <a:cs typeface="Calibri"/>
              </a:rPr>
              <a:t>stage</a:t>
            </a:r>
            <a:r>
              <a:rPr dirty="0" sz="1000" spc="-1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enhancement</a:t>
            </a:r>
            <a:r>
              <a:rPr dirty="0" sz="1000" spc="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pipeline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consistently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improved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image</a:t>
            </a:r>
            <a:r>
              <a:rPr dirty="0" sz="1000" spc="-1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quality</a:t>
            </a:r>
            <a:r>
              <a:rPr dirty="0" sz="1000" spc="-5" b="0">
                <a:latin typeface="Calibri"/>
                <a:cs typeface="Calibri"/>
              </a:rPr>
              <a:t> </a:t>
            </a:r>
            <a:r>
              <a:rPr dirty="0" sz="1000" spc="-50" b="0">
                <a:latin typeface="Calibri"/>
                <a:cs typeface="Calibri"/>
              </a:rPr>
              <a:t>—</a:t>
            </a:r>
            <a:endParaRPr sz="100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</a:pPr>
            <a:r>
              <a:rPr dirty="0" sz="1000" b="0">
                <a:latin typeface="Calibri"/>
                <a:cs typeface="Calibri"/>
              </a:rPr>
              <a:t>intensity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range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+65%,</a:t>
            </a:r>
            <a:r>
              <a:rPr dirty="0" sz="1000" spc="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sharpness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spc="-20" b="0">
                <a:latin typeface="Calibri"/>
                <a:cs typeface="Calibri"/>
              </a:rPr>
              <a:t>+91%.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000">
              <a:latin typeface="Calibri"/>
              <a:cs typeface="Calibri"/>
            </a:endParaRPr>
          </a:p>
          <a:p>
            <a:pPr marL="383540" marR="500380">
              <a:lnSpc>
                <a:spcPct val="100000"/>
              </a:lnSpc>
            </a:pPr>
            <a:r>
              <a:rPr dirty="0" sz="1000" b="0">
                <a:latin typeface="Calibri"/>
                <a:cs typeface="Calibri"/>
              </a:rPr>
              <a:t>The</a:t>
            </a:r>
            <a:r>
              <a:rPr dirty="0" sz="1000" spc="10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Black-</a:t>
            </a:r>
            <a:r>
              <a:rPr dirty="0" sz="1000" b="0">
                <a:latin typeface="Calibri"/>
                <a:cs typeface="Calibri"/>
              </a:rPr>
              <a:t>Hat </a:t>
            </a:r>
            <a:r>
              <a:rPr dirty="0" sz="1000" spc="-10" b="0">
                <a:latin typeface="Calibri"/>
                <a:cs typeface="Calibri"/>
              </a:rPr>
              <a:t>segmentation</a:t>
            </a:r>
            <a:r>
              <a:rPr dirty="0" sz="1000" spc="3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approach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eliminated</a:t>
            </a:r>
            <a:r>
              <a:rPr dirty="0" sz="1000" spc="2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shadow-</a:t>
            </a:r>
            <a:r>
              <a:rPr dirty="0" sz="1000" b="0">
                <a:latin typeface="Calibri"/>
                <a:cs typeface="Calibri"/>
              </a:rPr>
              <a:t>based</a:t>
            </a:r>
            <a:r>
              <a:rPr dirty="0" sz="1000" spc="-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false </a:t>
            </a:r>
            <a:r>
              <a:rPr dirty="0" sz="1000" b="0">
                <a:latin typeface="Calibri"/>
                <a:cs typeface="Calibri"/>
              </a:rPr>
              <a:t>positives</a:t>
            </a:r>
            <a:r>
              <a:rPr dirty="0" sz="1000" spc="-1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that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global</a:t>
            </a:r>
            <a:r>
              <a:rPr dirty="0" sz="1000" spc="-20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thresholding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(Otsu)</a:t>
            </a:r>
            <a:r>
              <a:rPr dirty="0" sz="1000" spc="-2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could</a:t>
            </a:r>
            <a:r>
              <a:rPr dirty="0" sz="1000" spc="-2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not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handle.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000">
              <a:latin typeface="Calibri"/>
              <a:cs typeface="Calibri"/>
            </a:endParaRPr>
          </a:p>
          <a:p>
            <a:pPr marL="383540" marR="636270">
              <a:lnSpc>
                <a:spcPct val="100000"/>
              </a:lnSpc>
              <a:spcBef>
                <a:spcPts val="5"/>
              </a:spcBef>
            </a:pPr>
            <a:r>
              <a:rPr dirty="0" sz="1000" b="0">
                <a:latin typeface="Calibri"/>
                <a:cs typeface="Calibri"/>
              </a:rPr>
              <a:t>Average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segmentation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accuracy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exceeded</a:t>
            </a:r>
            <a:r>
              <a:rPr dirty="0" sz="1000" spc="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90%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across</a:t>
            </a:r>
            <a:r>
              <a:rPr dirty="0" sz="1000" spc="-3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four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damage categories</a:t>
            </a:r>
            <a:r>
              <a:rPr dirty="0" sz="1000" spc="-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with</a:t>
            </a:r>
            <a:r>
              <a:rPr dirty="0" sz="1000" spc="-2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potholes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achieving</a:t>
            </a:r>
            <a:r>
              <a:rPr dirty="0" sz="1000" spc="-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IoU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of</a:t>
            </a:r>
            <a:r>
              <a:rPr dirty="0" sz="1000" spc="-20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0.85.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000">
              <a:latin typeface="Calibri"/>
              <a:cs typeface="Calibri"/>
            </a:endParaRPr>
          </a:p>
          <a:p>
            <a:pPr marL="383540" marR="603885">
              <a:lnSpc>
                <a:spcPct val="100000"/>
              </a:lnSpc>
            </a:pPr>
            <a:r>
              <a:rPr dirty="0" sz="1000" b="0">
                <a:latin typeface="Calibri"/>
                <a:cs typeface="Calibri"/>
              </a:rPr>
              <a:t>The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system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spc="-10" b="0">
                <a:latin typeface="Calibri"/>
                <a:cs typeface="Calibri"/>
              </a:rPr>
              <a:t>provides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a</a:t>
            </a:r>
            <a:r>
              <a:rPr dirty="0" sz="1000" spc="-2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scalable,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low-cost</a:t>
            </a:r>
            <a:r>
              <a:rPr dirty="0" sz="1000" spc="-2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alternative</a:t>
            </a:r>
            <a:r>
              <a:rPr dirty="0" sz="1000" spc="-15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to</a:t>
            </a:r>
            <a:r>
              <a:rPr dirty="0" sz="1000" spc="-30" b="0">
                <a:latin typeface="Calibri"/>
                <a:cs typeface="Calibri"/>
              </a:rPr>
              <a:t> </a:t>
            </a:r>
            <a:r>
              <a:rPr dirty="0" sz="1000" b="0">
                <a:latin typeface="Calibri"/>
                <a:cs typeface="Calibri"/>
              </a:rPr>
              <a:t>manual</a:t>
            </a:r>
            <a:r>
              <a:rPr dirty="0" sz="1000" spc="-25" b="0">
                <a:latin typeface="Calibri"/>
                <a:cs typeface="Calibri"/>
              </a:rPr>
              <a:t> </a:t>
            </a:r>
            <a:r>
              <a:rPr dirty="0" sz="1000" spc="-20" b="0">
                <a:latin typeface="Calibri"/>
                <a:cs typeface="Calibri"/>
              </a:rPr>
              <a:t>road </a:t>
            </a:r>
            <a:r>
              <a:rPr dirty="0" sz="1000" spc="-10" b="0">
                <a:latin typeface="Calibri"/>
                <a:cs typeface="Calibri"/>
              </a:rPr>
              <a:t>inspection.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074920" y="896111"/>
            <a:ext cx="3794760" cy="3365500"/>
          </a:xfrm>
          <a:prstGeom prst="rect">
            <a:avLst/>
          </a:prstGeom>
          <a:solidFill>
            <a:srgbClr val="AEABAB">
              <a:alpha val="10195"/>
            </a:srgbClr>
          </a:solidFill>
        </p:spPr>
        <p:txBody>
          <a:bodyPr wrap="square" lIns="0" tIns="130175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025"/>
              </a:spcBef>
            </a:pPr>
            <a:r>
              <a:rPr dirty="0" sz="1400" b="1">
                <a:solidFill>
                  <a:srgbClr val="0A4F6C"/>
                </a:solidFill>
                <a:latin typeface="Trebuchet MS"/>
                <a:cs typeface="Trebuchet MS"/>
              </a:rPr>
              <a:t>Future</a:t>
            </a:r>
            <a:r>
              <a:rPr dirty="0" sz="1400" spc="-110" b="1">
                <a:solidFill>
                  <a:srgbClr val="0A4F6C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0A4F6C"/>
                </a:solidFill>
                <a:latin typeface="Trebuchet MS"/>
                <a:cs typeface="Trebuchet MS"/>
              </a:rPr>
              <a:t>Work</a:t>
            </a:r>
            <a:endParaRPr sz="1400">
              <a:latin typeface="Trebuchet MS"/>
              <a:cs typeface="Trebuchet MS"/>
            </a:endParaRPr>
          </a:p>
          <a:p>
            <a:pPr marL="457834">
              <a:lnSpc>
                <a:spcPct val="100000"/>
              </a:lnSpc>
              <a:spcBef>
                <a:spcPts val="1605"/>
              </a:spcBef>
            </a:pPr>
            <a:r>
              <a:rPr dirty="0" sz="1050" b="1">
                <a:solidFill>
                  <a:srgbClr val="0A4F6C"/>
                </a:solidFill>
                <a:latin typeface="Calibri"/>
                <a:cs typeface="Calibri"/>
              </a:rPr>
              <a:t>Deep</a:t>
            </a:r>
            <a:r>
              <a:rPr dirty="0" sz="1050" spc="-40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A4F6C"/>
                </a:solidFill>
                <a:latin typeface="Calibri"/>
                <a:cs typeface="Calibri"/>
              </a:rPr>
              <a:t>Learning</a:t>
            </a:r>
            <a:r>
              <a:rPr dirty="0" sz="1050" spc="-20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A4F6C"/>
                </a:solidFill>
                <a:latin typeface="Calibri"/>
                <a:cs typeface="Calibri"/>
              </a:rPr>
              <a:t>Integration</a:t>
            </a:r>
            <a:endParaRPr sz="105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  <a:spcBef>
                <a:spcPts val="745"/>
              </a:spcBef>
            </a:pP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Use</a:t>
            </a:r>
            <a:r>
              <a:rPr dirty="0" sz="900" spc="-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CNN/YOLO-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based</a:t>
            </a:r>
            <a:r>
              <a:rPr dirty="0" sz="900" spc="-2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models</a:t>
            </a:r>
            <a:r>
              <a:rPr dirty="0" sz="900" spc="1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for</a:t>
            </a:r>
            <a:r>
              <a:rPr dirty="0" sz="900" spc="-1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real-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time</a:t>
            </a:r>
            <a:r>
              <a:rPr dirty="0" sz="900" spc="2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classification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</a:pPr>
            <a:r>
              <a:rPr dirty="0" sz="1050" b="1">
                <a:solidFill>
                  <a:srgbClr val="0A4F6C"/>
                </a:solidFill>
                <a:latin typeface="Calibri"/>
                <a:cs typeface="Calibri"/>
              </a:rPr>
              <a:t>Temporal</a:t>
            </a:r>
            <a:r>
              <a:rPr dirty="0" sz="1050" spc="-35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A4F6C"/>
                </a:solidFill>
                <a:latin typeface="Calibri"/>
                <a:cs typeface="Calibri"/>
              </a:rPr>
              <a:t>Consistency</a:t>
            </a:r>
            <a:endParaRPr sz="105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  <a:spcBef>
                <a:spcPts val="740"/>
              </a:spcBef>
            </a:pP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Frame-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to-frame</a:t>
            </a:r>
            <a:r>
              <a:rPr dirty="0" sz="900" spc="-3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tracking</a:t>
            </a:r>
            <a:r>
              <a:rPr dirty="0" sz="900" spc="-1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filter</a:t>
            </a:r>
            <a:r>
              <a:rPr dirty="0" sz="900" spc="-1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transient</a:t>
            </a:r>
            <a:r>
              <a:rPr dirty="0" sz="900" spc="-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0A4F6C"/>
                </a:solidFill>
                <a:latin typeface="Calibri"/>
                <a:cs typeface="Calibri"/>
              </a:rPr>
              <a:t>noise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</a:pPr>
            <a:r>
              <a:rPr dirty="0" sz="1050" b="1">
                <a:solidFill>
                  <a:srgbClr val="0A4F6C"/>
                </a:solidFill>
                <a:latin typeface="Calibri"/>
                <a:cs typeface="Calibri"/>
              </a:rPr>
              <a:t>Adaptive</a:t>
            </a:r>
            <a:r>
              <a:rPr dirty="0" sz="1050" spc="-25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A4F6C"/>
                </a:solidFill>
                <a:latin typeface="Calibri"/>
                <a:cs typeface="Calibri"/>
              </a:rPr>
              <a:t>Parameters</a:t>
            </a:r>
            <a:endParaRPr sz="105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  <a:spcBef>
                <a:spcPts val="745"/>
              </a:spcBef>
            </a:pP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Dynamic</a:t>
            </a:r>
            <a:r>
              <a:rPr dirty="0" sz="900" spc="-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area</a:t>
            </a:r>
            <a:r>
              <a:rPr dirty="0" sz="900" spc="-1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thresholds</a:t>
            </a:r>
            <a:r>
              <a:rPr dirty="0" sz="900" spc="2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based on</a:t>
            </a:r>
            <a:r>
              <a:rPr dirty="0" sz="900" spc="-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camera</a:t>
            </a:r>
            <a:r>
              <a:rPr dirty="0" sz="900" spc="-3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perspective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</a:pPr>
            <a:r>
              <a:rPr dirty="0" sz="1050" spc="-10" b="1">
                <a:solidFill>
                  <a:srgbClr val="0A4F6C"/>
                </a:solidFill>
                <a:latin typeface="Calibri"/>
                <a:cs typeface="Calibri"/>
              </a:rPr>
              <a:t>Shape-</a:t>
            </a:r>
            <a:r>
              <a:rPr dirty="0" sz="1050" b="1">
                <a:solidFill>
                  <a:srgbClr val="0A4F6C"/>
                </a:solidFill>
                <a:latin typeface="Calibri"/>
                <a:cs typeface="Calibri"/>
              </a:rPr>
              <a:t>Based </a:t>
            </a:r>
            <a:r>
              <a:rPr dirty="0" sz="1050" spc="-10" b="1">
                <a:solidFill>
                  <a:srgbClr val="0A4F6C"/>
                </a:solidFill>
                <a:latin typeface="Calibri"/>
                <a:cs typeface="Calibri"/>
              </a:rPr>
              <a:t>Filtering</a:t>
            </a:r>
            <a:endParaRPr sz="105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  <a:spcBef>
                <a:spcPts val="740"/>
              </a:spcBef>
            </a:pP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Eccentricity/circularity</a:t>
            </a:r>
            <a:r>
              <a:rPr dirty="0" sz="900" spc="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distinguish</a:t>
            </a:r>
            <a:r>
              <a:rPr dirty="0" sz="900" spc="3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cracks</a:t>
            </a:r>
            <a:r>
              <a:rPr dirty="0" sz="900" spc="-30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from</a:t>
            </a:r>
            <a:r>
              <a:rPr dirty="0" sz="900" spc="-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oil</a:t>
            </a:r>
            <a:r>
              <a:rPr dirty="0" sz="900" spc="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0A4F6C"/>
                </a:solidFill>
                <a:latin typeface="Calibri"/>
                <a:cs typeface="Calibri"/>
              </a:rPr>
              <a:t>spots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</a:pPr>
            <a:r>
              <a:rPr dirty="0" sz="1050" b="1">
                <a:solidFill>
                  <a:srgbClr val="0A4F6C"/>
                </a:solidFill>
                <a:latin typeface="Calibri"/>
                <a:cs typeface="Calibri"/>
              </a:rPr>
              <a:t>Advanced</a:t>
            </a:r>
            <a:r>
              <a:rPr dirty="0" sz="1050" spc="-50" b="1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A4F6C"/>
                </a:solidFill>
                <a:latin typeface="Calibri"/>
                <a:cs typeface="Calibri"/>
              </a:rPr>
              <a:t>Enhancement</a:t>
            </a:r>
            <a:endParaRPr sz="1050">
              <a:latin typeface="Calibri"/>
              <a:cs typeface="Calibri"/>
            </a:endParaRPr>
          </a:p>
          <a:p>
            <a:pPr marL="457834">
              <a:lnSpc>
                <a:spcPct val="100000"/>
              </a:lnSpc>
              <a:spcBef>
                <a:spcPts val="745"/>
              </a:spcBef>
            </a:pP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Deep</a:t>
            </a:r>
            <a:r>
              <a:rPr dirty="0" sz="900" spc="-2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learning-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based</a:t>
            </a:r>
            <a:r>
              <a:rPr dirty="0" sz="900" spc="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denoising</a:t>
            </a:r>
            <a:r>
              <a:rPr dirty="0" sz="900" spc="-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for</a:t>
            </a:r>
            <a:r>
              <a:rPr dirty="0" sz="900" spc="-2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4F6C"/>
                </a:solidFill>
                <a:latin typeface="Calibri"/>
                <a:cs typeface="Calibri"/>
              </a:rPr>
              <a:t>extreme</a:t>
            </a:r>
            <a:r>
              <a:rPr dirty="0" sz="900" spc="-15">
                <a:solidFill>
                  <a:srgbClr val="0A4F6C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4F6C"/>
                </a:solidFill>
                <a:latin typeface="Calibri"/>
                <a:cs typeface="Calibri"/>
              </a:rPr>
              <a:t>conditions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622550" y="4844288"/>
            <a:ext cx="3989704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80B8CC"/>
                </a:solidFill>
                <a:latin typeface="Calibri"/>
                <a:cs typeface="Calibri"/>
              </a:rPr>
              <a:t>GitHub: </a:t>
            </a:r>
            <a:r>
              <a:rPr dirty="0" sz="950" spc="-10">
                <a:solidFill>
                  <a:srgbClr val="80B8CC"/>
                </a:solidFill>
                <a:latin typeface="Calibri"/>
                <a:cs typeface="Calibri"/>
              </a:rPr>
              <a:t>github.com/BinadiSilva/road_damage_detection</a:t>
            </a:r>
            <a:r>
              <a:rPr dirty="0" sz="950" spc="245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0B8CC"/>
                </a:solidFill>
                <a:latin typeface="Calibri"/>
                <a:cs typeface="Calibri"/>
              </a:rPr>
              <a:t>|</a:t>
            </a:r>
            <a:r>
              <a:rPr dirty="0" sz="950" spc="229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0B8CC"/>
                </a:solidFill>
                <a:latin typeface="Calibri"/>
                <a:cs typeface="Calibri"/>
              </a:rPr>
              <a:t>Group 03</a:t>
            </a:r>
            <a:r>
              <a:rPr dirty="0" sz="950" spc="254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0B8CC"/>
                </a:solidFill>
                <a:latin typeface="Calibri"/>
                <a:cs typeface="Calibri"/>
              </a:rPr>
              <a:t>|</a:t>
            </a:r>
            <a:r>
              <a:rPr dirty="0" sz="950" spc="245">
                <a:solidFill>
                  <a:srgbClr val="80B8C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0B8CC"/>
                </a:solidFill>
                <a:latin typeface="Calibri"/>
                <a:cs typeface="Calibri"/>
              </a:rPr>
              <a:t>ICT2403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92721" y="2092198"/>
            <a:ext cx="126364" cy="1686560"/>
            <a:chOff x="492721" y="2092198"/>
            <a:chExt cx="126364" cy="1686560"/>
          </a:xfrm>
        </p:grpSpPr>
        <p:sp>
          <p:nvSpPr>
            <p:cNvPr id="17" name="object 17" descr=""/>
            <p:cNvSpPr/>
            <p:nvPr/>
          </p:nvSpPr>
          <p:spPr>
            <a:xfrm>
              <a:off x="502754" y="2098548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4">
                  <a:moveTo>
                    <a:pt x="109728" y="0"/>
                  </a:moveTo>
                  <a:lnTo>
                    <a:pt x="0" y="0"/>
                  </a:lnTo>
                  <a:lnTo>
                    <a:pt x="0" y="100583"/>
                  </a:lnTo>
                  <a:lnTo>
                    <a:pt x="109728" y="100583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2754" y="2098548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4">
                  <a:moveTo>
                    <a:pt x="0" y="100583"/>
                  </a:moveTo>
                  <a:lnTo>
                    <a:pt x="109728" y="100583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0583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00672" y="2639949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4">
                  <a:moveTo>
                    <a:pt x="109728" y="0"/>
                  </a:moveTo>
                  <a:lnTo>
                    <a:pt x="0" y="0"/>
                  </a:lnTo>
                  <a:lnTo>
                    <a:pt x="0" y="100583"/>
                  </a:lnTo>
                  <a:lnTo>
                    <a:pt x="109728" y="100583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00672" y="2639949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4">
                  <a:moveTo>
                    <a:pt x="0" y="100583"/>
                  </a:moveTo>
                  <a:lnTo>
                    <a:pt x="109728" y="100583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0583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9071" y="3150362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4">
                  <a:moveTo>
                    <a:pt x="109728" y="0"/>
                  </a:moveTo>
                  <a:lnTo>
                    <a:pt x="0" y="0"/>
                  </a:lnTo>
                  <a:lnTo>
                    <a:pt x="0" y="100583"/>
                  </a:lnTo>
                  <a:lnTo>
                    <a:pt x="109728" y="100583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99071" y="3150362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4">
                  <a:moveTo>
                    <a:pt x="0" y="100583"/>
                  </a:moveTo>
                  <a:lnTo>
                    <a:pt x="109728" y="100583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0583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99071" y="3671316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4">
                  <a:moveTo>
                    <a:pt x="109728" y="0"/>
                  </a:moveTo>
                  <a:lnTo>
                    <a:pt x="0" y="0"/>
                  </a:lnTo>
                  <a:lnTo>
                    <a:pt x="0" y="100584"/>
                  </a:lnTo>
                  <a:lnTo>
                    <a:pt x="109728" y="100584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99071" y="3671316"/>
              <a:ext cx="109855" cy="100965"/>
            </a:xfrm>
            <a:custGeom>
              <a:avLst/>
              <a:gdLst/>
              <a:ahLst/>
              <a:cxnLst/>
              <a:rect l="l" t="t" r="r" b="b"/>
              <a:pathLst>
                <a:path w="109854" h="100964">
                  <a:moveTo>
                    <a:pt x="0" y="100584"/>
                  </a:moveTo>
                  <a:lnTo>
                    <a:pt x="109728" y="100584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0584"/>
                  </a:lnTo>
                  <a:close/>
                </a:path>
              </a:pathLst>
            </a:custGeom>
            <a:ln w="12700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5480" y="2171522"/>
            <a:ext cx="378206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THANK</a:t>
            </a:r>
            <a:r>
              <a:rPr dirty="0" sz="4800" spc="-100"/>
              <a:t> </a:t>
            </a:r>
            <a:r>
              <a:rPr dirty="0" sz="4800"/>
              <a:t>YOU</a:t>
            </a:r>
            <a:r>
              <a:rPr dirty="0" sz="4800" spc="-10"/>
              <a:t> </a:t>
            </a:r>
            <a:r>
              <a:rPr dirty="0" sz="4800" spc="-50"/>
              <a:t>!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Video-Based Road Damage Detection</dc:title>
  <dcterms:created xsi:type="dcterms:W3CDTF">2026-05-11T02:02:22Z</dcterms:created>
  <dcterms:modified xsi:type="dcterms:W3CDTF">2026-05-11T02:02:22Z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2026-05-11T00:00:00Z</vt:filetime>
  </property>
  <property fmtid="{D5CDD505-2E9C-101B-9397-08002B2CF9AE}" pid="5" name="Producer">
    <vt:lpwstr>Microsoft® PowerPoint® for Microsoft 365</vt:lpwstr>
  </property>
</Properties>
</file>